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handoutMasterIdLst>
    <p:handoutMasterId r:id="rId18"/>
  </p:handoutMasterIdLst>
  <p:sldIdLst>
    <p:sldId id="256" r:id="rId3"/>
    <p:sldId id="261" r:id="rId4"/>
    <p:sldId id="260" r:id="rId5"/>
    <p:sldId id="263" r:id="rId6"/>
    <p:sldId id="262" r:id="rId7"/>
    <p:sldId id="265" r:id="rId8"/>
    <p:sldId id="269" r:id="rId9"/>
    <p:sldId id="270" r:id="rId10"/>
    <p:sldId id="266" r:id="rId11"/>
    <p:sldId id="271" r:id="rId12"/>
    <p:sldId id="272" r:id="rId13"/>
    <p:sldId id="274" r:id="rId14"/>
    <p:sldId id="273"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B40"/>
    <a:srgbClr val="A78BFA"/>
    <a:srgbClr val="24C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72" d="100"/>
          <a:sy n="72" d="100"/>
        </p:scale>
        <p:origin x="342" y="9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E678DE-42B2-4575-BCF4-F3F41202CAFF}" type="datetimeFigureOut">
              <a:rPr lang="fr-FR" smtClean="0"/>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DBAD02-E789-48B2-B645-09855FFB5328}" type="slidenum">
              <a:rPr lang="fr-FR" smtClean="0"/>
            </a:fld>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9CED96-068A-4274-8614-CE8858D45159}" type="datetimeFigureOut">
              <a:rPr lang="fr-FR" smtClean="0"/>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9DBC96-224C-4F47-B1D0-6020CB55D1D9}"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680960" y="141732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0" y="257556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80960" y="3733799"/>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489204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58200" y="141732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58200" y="199644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58200" y="257556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58200" y="315468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58200" y="3733799"/>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58200" y="431292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58200" y="4892040"/>
            <a:ext cx="155448" cy="155448"/>
          </a:xfrm>
          <a:prstGeom prst="ellipse">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235440" y="141732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35440" y="199644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35440" y="257556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35440" y="315468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35440" y="3733799"/>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35440" y="431292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35440" y="4892040"/>
            <a:ext cx="155448" cy="155448"/>
          </a:xfrm>
          <a:prstGeom prst="ellipse">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12680" y="1417320"/>
            <a:ext cx="155448" cy="155448"/>
          </a:xfrm>
          <a:prstGeom prst="ellipse">
            <a:avLst/>
          </a:prstGeom>
          <a:solidFill>
            <a:srgbClr val="60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12680" y="2286000"/>
            <a:ext cx="155448" cy="155448"/>
          </a:xfrm>
          <a:prstGeom prst="ellipse">
            <a:avLst/>
          </a:prstGeom>
          <a:solidFill>
            <a:srgbClr val="60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12680" y="3154680"/>
            <a:ext cx="155448" cy="155448"/>
          </a:xfrm>
          <a:prstGeom prst="ellipse">
            <a:avLst/>
          </a:prstGeom>
          <a:solidFill>
            <a:srgbClr val="60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12680" y="4023359"/>
            <a:ext cx="155448" cy="155448"/>
          </a:xfrm>
          <a:prstGeom prst="ellipse">
            <a:avLst/>
          </a:prstGeom>
          <a:solidFill>
            <a:srgbClr val="60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12680" y="4892040"/>
            <a:ext cx="155448" cy="155448"/>
          </a:xfrm>
          <a:prstGeom prst="ellipse">
            <a:avLst/>
          </a:prstGeom>
          <a:solidFill>
            <a:srgbClr val="60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789920" y="141732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789920" y="315468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789920" y="4892040"/>
            <a:ext cx="155448" cy="155448"/>
          </a:xfrm>
          <a:prstGeom prst="ellipse">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502920"/>
            <a:ext cx="1691640" cy="347472"/>
          </a:xfrm>
          <a:prstGeom prst="round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66928"/>
            <a:ext cx="1600200" cy="182880"/>
          </a:xfrm>
          <a:prstGeom prst="rect">
            <a:avLst/>
          </a:prstGeom>
          <a:noFill/>
        </p:spPr>
        <p:txBody>
          <a:bodyPr wrap="none">
            <a:spAutoFit/>
          </a:bodyPr>
          <a:lstStyle/>
          <a:p>
            <a:pPr algn="ctr">
              <a:defRPr sz="1000" b="1">
                <a:solidFill>
                  <a:srgbClr val="0B1627"/>
                </a:solidFill>
                <a:latin typeface="Aptos"/>
              </a:defRPr>
            </a:pPr>
            <a:r>
              <a:t>Natural Computation</a:t>
            </a:r>
          </a:p>
        </p:txBody>
      </p:sp>
      <p:sp>
        <p:nvSpPr>
          <p:cNvPr id="32" name="TextBox 31"/>
          <p:cNvSpPr txBox="1"/>
          <p:nvPr/>
        </p:nvSpPr>
        <p:spPr>
          <a:xfrm>
            <a:off x="594360" y="1417320"/>
            <a:ext cx="6766560" cy="1280160"/>
          </a:xfrm>
          <a:prstGeom prst="rect">
            <a:avLst/>
          </a:prstGeom>
          <a:noFill/>
        </p:spPr>
        <p:txBody>
          <a:bodyPr wrap="none">
            <a:spAutoFit/>
          </a:bodyPr>
          <a:lstStyle/>
          <a:p>
            <a:pPr>
              <a:defRPr sz="4200" b="1">
                <a:solidFill>
                  <a:srgbClr val="F5F8FC"/>
                </a:solidFill>
                <a:latin typeface="Aptos Display"/>
              </a:defRPr>
            </a:pPr>
            <a:r>
              <a:rPr dirty="0"/>
              <a:t>Optimizing AF Distribution</a:t>
            </a:r>
            <a:endParaRPr dirty="0"/>
          </a:p>
          <a:p>
            <a:pPr>
              <a:defRPr sz="3600" b="1">
                <a:solidFill>
                  <a:srgbClr val="24C4E6"/>
                </a:solidFill>
                <a:latin typeface="Aptos Display"/>
              </a:defRPr>
            </a:pPr>
            <a:r>
              <a:rPr dirty="0"/>
              <a:t>using Simulated Annealing</a:t>
            </a:r>
            <a:endParaRPr dirty="0"/>
          </a:p>
        </p:txBody>
      </p:sp>
      <p:sp>
        <p:nvSpPr>
          <p:cNvPr id="33" name="TextBox 32"/>
          <p:cNvSpPr txBox="1"/>
          <p:nvPr/>
        </p:nvSpPr>
        <p:spPr>
          <a:xfrm>
            <a:off x="621792" y="2971800"/>
            <a:ext cx="6217920" cy="731520"/>
          </a:xfrm>
          <a:prstGeom prst="rect">
            <a:avLst/>
          </a:prstGeom>
          <a:noFill/>
        </p:spPr>
        <p:txBody>
          <a:bodyPr wrap="none">
            <a:spAutoFit/>
          </a:bodyPr>
          <a:lstStyle/>
          <a:p>
            <a:pPr>
              <a:defRPr sz="1800">
                <a:solidFill>
                  <a:srgbClr val="DAE5F3"/>
                </a:solidFill>
                <a:latin typeface="Aptos"/>
              </a:defRPr>
            </a:pPr>
            <a:r>
              <a:t>Task 2: Abstract and Introduction for the intermediate report</a:t>
            </a:r>
          </a:p>
        </p:txBody>
      </p:sp>
      <p:sp>
        <p:nvSpPr>
          <p:cNvPr id="34" name="TextBox 33"/>
          <p:cNvSpPr txBox="1"/>
          <p:nvPr/>
        </p:nvSpPr>
        <p:spPr>
          <a:xfrm>
            <a:off x="621792" y="5897880"/>
            <a:ext cx="4732065" cy="292388"/>
          </a:xfrm>
          <a:prstGeom prst="rect">
            <a:avLst/>
          </a:prstGeom>
          <a:noFill/>
        </p:spPr>
        <p:txBody>
          <a:bodyPr wrap="none">
            <a:spAutoFit/>
          </a:bodyPr>
          <a:lstStyle/>
          <a:p>
            <a:pPr>
              <a:defRPr sz="1300">
                <a:solidFill>
                  <a:srgbClr val="A9B7CB"/>
                </a:solidFill>
                <a:latin typeface="Aptos"/>
              </a:defRPr>
            </a:pPr>
            <a:r>
              <a:rPr dirty="0"/>
              <a:t>Justin Klein · </a:t>
            </a:r>
            <a:r>
              <a:rPr sz="1300" dirty="0">
                <a:solidFill>
                  <a:srgbClr val="A9B7CB"/>
                </a:solidFill>
                <a:latin typeface="Aptos"/>
              </a:rPr>
              <a:t>Patrick Fan-Ming Lee · Ziri </a:t>
            </a:r>
            <a:r>
              <a:rPr sz="1300" dirty="0" err="1">
                <a:solidFill>
                  <a:srgbClr val="A9B7CB"/>
                </a:solidFill>
                <a:latin typeface="Aptos"/>
              </a:rPr>
              <a:t>Moula</a:t>
            </a:r>
            <a:r>
              <a:rPr lang="en-US" sz="1300" dirty="0">
                <a:solidFill>
                  <a:srgbClr val="A9B7CB"/>
                </a:solidFill>
                <a:latin typeface="Aptos"/>
              </a:rPr>
              <a:t> . Negar Farahani </a:t>
            </a:r>
            <a:endParaRPr sz="1300" dirty="0">
              <a:solidFill>
                <a:srgbClr val="A9B7CB"/>
              </a:solidFill>
              <a:latin typeface="Aptos"/>
            </a:endParaRPr>
          </a:p>
        </p:txBody>
      </p:sp>
      <p:sp>
        <p:nvSpPr>
          <p:cNvPr id="35" name="TextBox 34"/>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443921" cy="507831"/>
          </a:xfrm>
          <a:prstGeom prst="rect">
            <a:avLst/>
          </a:prstGeom>
          <a:noFill/>
        </p:spPr>
        <p:txBody>
          <a:bodyPr wrap="none">
            <a:spAutoFit/>
          </a:bodyPr>
          <a:lstStyle/>
          <a:p>
            <a:pPr>
              <a:defRPr sz="2700" b="1">
                <a:solidFill>
                  <a:srgbClr val="F5F8FC"/>
                </a:solidFill>
                <a:latin typeface="Aptos Display"/>
              </a:defRPr>
            </a:pPr>
            <a:r>
              <a:rPr dirty="0"/>
              <a:t>Abstract</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06</a:t>
            </a:r>
          </a:p>
        </p:txBody>
      </p:sp>
      <p:sp>
        <p:nvSpPr>
          <p:cNvPr id="7" name="Rounded Rectangle 6"/>
          <p:cNvSpPr/>
          <p:nvPr/>
        </p:nvSpPr>
        <p:spPr>
          <a:xfrm>
            <a:off x="822960" y="762000"/>
            <a:ext cx="10561320" cy="5775960"/>
          </a:xfrm>
          <a:prstGeom prst="roundRect">
            <a:avLst/>
          </a:prstGeom>
          <a:solidFill>
            <a:srgbClr val="0E1D32"/>
          </a:solidFill>
          <a:ln w="12700">
            <a:solidFill>
              <a:srgbClr val="24C4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4880" y="1016251"/>
            <a:ext cx="9966960" cy="5487592"/>
          </a:xfrm>
          <a:prstGeom prst="rect">
            <a:avLst/>
          </a:prstGeom>
          <a:noFill/>
        </p:spPr>
        <p:txBody>
          <a:bodyPr wrap="square">
            <a:spAutoFit/>
          </a:bodyPr>
          <a:lstStyle/>
          <a:p>
            <a:pPr>
              <a:lnSpc>
                <a:spcPct val="110000"/>
              </a:lnSpc>
              <a:defRPr sz="1720">
                <a:solidFill>
                  <a:srgbClr val="F5F8FC"/>
                </a:solidFill>
                <a:latin typeface="Aptos"/>
              </a:defRPr>
            </a:pPr>
            <a:r>
              <a:rPr lang="en-US" dirty="0"/>
              <a:t>This project explores whether the performance of small neural networks can be improved by searching for better activation-function assignments.</a:t>
            </a:r>
            <a:endParaRPr lang="en-US" dirty="0"/>
          </a:p>
          <a:p>
            <a:pPr>
              <a:lnSpc>
                <a:spcPct val="110000"/>
              </a:lnSpc>
              <a:defRPr sz="1720">
                <a:solidFill>
                  <a:srgbClr val="F5F8FC"/>
                </a:solidFill>
                <a:latin typeface="Aptos"/>
              </a:defRPr>
            </a:pPr>
            <a:endParaRPr lang="en-US" dirty="0"/>
          </a:p>
          <a:p>
            <a:pPr>
              <a:lnSpc>
                <a:spcPct val="110000"/>
              </a:lnSpc>
              <a:defRPr sz="1720">
                <a:solidFill>
                  <a:srgbClr val="F5F8FC"/>
                </a:solidFill>
                <a:latin typeface="Aptos"/>
              </a:defRPr>
            </a:pPr>
            <a:r>
              <a:rPr lang="en-US" dirty="0"/>
              <a:t>In a normal neural network, training mainly changes the weights and biases. This training is done with gradient descent. However, the activation functions, such as </a:t>
            </a:r>
            <a:r>
              <a:rPr lang="en-US" dirty="0" err="1"/>
              <a:t>ReLU</a:t>
            </a:r>
            <a:r>
              <a:rPr lang="en-US" dirty="0"/>
              <a:t>, tanh, sigmoid, Swish, GELU, or identity, are usually selected manually before training starts and then remain fixed.</a:t>
            </a:r>
            <a:endParaRPr lang="en-US" dirty="0"/>
          </a:p>
          <a:p>
            <a:pPr>
              <a:lnSpc>
                <a:spcPct val="110000"/>
              </a:lnSpc>
              <a:defRPr sz="1720">
                <a:solidFill>
                  <a:srgbClr val="F5F8FC"/>
                </a:solidFill>
                <a:latin typeface="Aptos"/>
              </a:defRPr>
            </a:pPr>
            <a:endParaRPr lang="en-US" dirty="0"/>
          </a:p>
          <a:p>
            <a:pPr>
              <a:lnSpc>
                <a:spcPct val="110000"/>
              </a:lnSpc>
              <a:defRPr sz="1720">
                <a:solidFill>
                  <a:srgbClr val="F5F8FC"/>
                </a:solidFill>
                <a:latin typeface="Aptos"/>
              </a:defRPr>
            </a:pPr>
            <a:r>
              <a:rPr lang="en-US" sz="2000" b="1" dirty="0">
                <a:solidFill>
                  <a:srgbClr val="24C4E6"/>
                </a:solidFill>
                <a:latin typeface="Aptos Display"/>
              </a:rPr>
              <a:t>Our project separates these two processes clearly. </a:t>
            </a:r>
            <a:endParaRPr lang="en-US" sz="2000" b="1" dirty="0">
              <a:solidFill>
                <a:srgbClr val="24C4E6"/>
              </a:solidFill>
              <a:latin typeface="Aptos Display"/>
            </a:endParaRPr>
          </a:p>
          <a:p>
            <a:pPr>
              <a:lnSpc>
                <a:spcPct val="110000"/>
              </a:lnSpc>
              <a:defRPr sz="1720">
                <a:solidFill>
                  <a:srgbClr val="F5F8FC"/>
                </a:solidFill>
                <a:latin typeface="Aptos"/>
              </a:defRPr>
            </a:pPr>
            <a:endParaRPr lang="en-US" sz="700" dirty="0"/>
          </a:p>
          <a:p>
            <a:pPr marL="285750" indent="-285750">
              <a:lnSpc>
                <a:spcPct val="110000"/>
              </a:lnSpc>
              <a:buFont typeface="Arial" panose="020B0604020202020204" pitchFamily="34" charset="0"/>
              <a:buChar char="•"/>
              <a:defRPr sz="1720">
                <a:solidFill>
                  <a:srgbClr val="F5F8FC"/>
                </a:solidFill>
                <a:latin typeface="Aptos"/>
              </a:defRPr>
            </a:pPr>
            <a:r>
              <a:rPr lang="en-US" dirty="0"/>
              <a:t>Gradient descent is used to train the weights and biases for a fixed activation layout. </a:t>
            </a:r>
            <a:endParaRPr lang="en-US" dirty="0"/>
          </a:p>
          <a:p>
            <a:pPr marL="285750" indent="-285750">
              <a:lnSpc>
                <a:spcPct val="110000"/>
              </a:lnSpc>
              <a:buFont typeface="Arial" panose="020B0604020202020204" pitchFamily="34" charset="0"/>
              <a:buChar char="•"/>
              <a:defRPr sz="1720">
                <a:solidFill>
                  <a:srgbClr val="F5F8FC"/>
                </a:solidFill>
                <a:latin typeface="Aptos"/>
              </a:defRPr>
            </a:pPr>
            <a:r>
              <a:rPr lang="en-US" dirty="0"/>
              <a:t>Simulated Annealing is used to search over different activation-function layouts. </a:t>
            </a:r>
            <a:endParaRPr lang="en-US" dirty="0"/>
          </a:p>
          <a:p>
            <a:pPr>
              <a:lnSpc>
                <a:spcPct val="110000"/>
              </a:lnSpc>
              <a:defRPr sz="1720">
                <a:solidFill>
                  <a:srgbClr val="F5F8FC"/>
                </a:solidFill>
                <a:latin typeface="Aptos"/>
              </a:defRPr>
            </a:pPr>
            <a:r>
              <a:rPr lang="en-US" dirty="0"/>
              <a:t>In each step, Simulated Annealing proposes a small change to the current layout, for example changing the activation function of one neuron. The proposed layout is then trained briefly and evaluated on validation data to estimate how well it works.</a:t>
            </a:r>
            <a:endParaRPr lang="en-US" dirty="0"/>
          </a:p>
          <a:p>
            <a:pPr>
              <a:lnSpc>
                <a:spcPct val="110000"/>
              </a:lnSpc>
              <a:defRPr sz="1720">
                <a:solidFill>
                  <a:srgbClr val="F5F8FC"/>
                </a:solidFill>
                <a:latin typeface="Aptos"/>
              </a:defRPr>
            </a:pPr>
            <a:endParaRPr lang="en-US" dirty="0"/>
          </a:p>
          <a:p>
            <a:pPr>
              <a:lnSpc>
                <a:spcPct val="110000"/>
              </a:lnSpc>
              <a:defRPr sz="1720">
                <a:solidFill>
                  <a:srgbClr val="F5F8FC"/>
                </a:solidFill>
                <a:latin typeface="Aptos"/>
              </a:defRPr>
            </a:pPr>
            <a:r>
              <a:rPr lang="en-US" sz="1720" dirty="0"/>
              <a:t>The aim is to compare Simulated-Annealing layouts with standard manually chosen layouts under identical training conditions, such as the same network structure, data split, training time, and random seeds. This allows us to fairly study whether optimizing activation-function distributions can improve neural network design.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8869680" cy="548640"/>
          </a:xfrm>
          <a:prstGeom prst="rect">
            <a:avLst/>
          </a:prstGeom>
          <a:noFill/>
        </p:spPr>
        <p:txBody>
          <a:bodyPr wrap="none">
            <a:spAutoFit/>
          </a:bodyPr>
          <a:lstStyle/>
          <a:p>
            <a:pPr>
              <a:defRPr sz="2700" b="1">
                <a:solidFill>
                  <a:srgbClr val="F5F8FC"/>
                </a:solidFill>
                <a:latin typeface="Aptos Display"/>
              </a:defRPr>
            </a:pPr>
            <a:r>
              <a:t>Project in one sentence</a:t>
            </a:r>
          </a:p>
        </p:txBody>
      </p:sp>
      <p:sp>
        <p:nvSpPr>
          <p:cNvPr id="5" name="TextBox 4"/>
          <p:cNvSpPr txBox="1"/>
          <p:nvPr/>
        </p:nvSpPr>
        <p:spPr>
          <a:xfrm>
            <a:off x="530352" y="868680"/>
            <a:ext cx="9418320" cy="320040"/>
          </a:xfrm>
          <a:prstGeom prst="rect">
            <a:avLst/>
          </a:prstGeom>
          <a:noFill/>
        </p:spPr>
        <p:txBody>
          <a:bodyPr wrap="none">
            <a:spAutoFit/>
          </a:bodyPr>
          <a:lstStyle/>
          <a:p>
            <a:pPr>
              <a:defRPr sz="1250">
                <a:solidFill>
                  <a:srgbClr val="A9B7CB"/>
                </a:solidFill>
                <a:latin typeface="Aptos"/>
              </a:defRPr>
            </a:pPr>
            <a:r>
              <a:t>We optimize the distribution of activation functions in small neural networks.</a:t>
            </a:r>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05</a:t>
            </a:r>
          </a:p>
        </p:txBody>
      </p:sp>
      <p:sp>
        <p:nvSpPr>
          <p:cNvPr id="7" name="Rounded Rectangle 6"/>
          <p:cNvSpPr/>
          <p:nvPr/>
        </p:nvSpPr>
        <p:spPr>
          <a:xfrm>
            <a:off x="640080" y="1371603"/>
            <a:ext cx="2423160" cy="1554480"/>
          </a:xfrm>
          <a:prstGeom prst="roundRect">
            <a:avLst/>
          </a:prstGeom>
          <a:solidFill>
            <a:srgbClr val="11223A"/>
          </a:solidFill>
          <a:ln w="16510">
            <a:solidFill>
              <a:srgbClr val="24C4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3319" y="1554482"/>
            <a:ext cx="1365823" cy="307777"/>
          </a:xfrm>
          <a:prstGeom prst="rect">
            <a:avLst/>
          </a:prstGeom>
          <a:noFill/>
        </p:spPr>
        <p:txBody>
          <a:bodyPr wrap="none">
            <a:spAutoFit/>
          </a:bodyPr>
          <a:lstStyle/>
          <a:p>
            <a:pPr algn="ctr">
              <a:defRPr sz="1400" b="1">
                <a:solidFill>
                  <a:srgbClr val="24C4E6"/>
                </a:solidFill>
                <a:latin typeface="Aptos"/>
              </a:defRPr>
            </a:pPr>
            <a:r>
              <a:rPr dirty="0"/>
              <a:t>Fixed topology</a:t>
            </a:r>
            <a:endParaRPr dirty="0"/>
          </a:p>
        </p:txBody>
      </p:sp>
      <p:sp>
        <p:nvSpPr>
          <p:cNvPr id="9" name="TextBox 8"/>
          <p:cNvSpPr txBox="1"/>
          <p:nvPr/>
        </p:nvSpPr>
        <p:spPr>
          <a:xfrm>
            <a:off x="804671" y="1992434"/>
            <a:ext cx="2007281" cy="430887"/>
          </a:xfrm>
          <a:prstGeom prst="rect">
            <a:avLst/>
          </a:prstGeom>
          <a:noFill/>
        </p:spPr>
        <p:txBody>
          <a:bodyPr wrap="none">
            <a:spAutoFit/>
          </a:bodyPr>
          <a:lstStyle/>
          <a:p>
            <a:pPr algn="ctr">
              <a:defRPr sz="1100">
                <a:solidFill>
                  <a:srgbClr val="F5F8FC"/>
                </a:solidFill>
                <a:latin typeface="Aptos"/>
              </a:defRPr>
            </a:pPr>
            <a:r>
              <a:rPr lang="en-US" sz="1100" dirty="0"/>
              <a:t>Same network structure</a:t>
            </a:r>
            <a:endParaRPr lang="en-US" dirty="0"/>
          </a:p>
          <a:p>
            <a:pPr algn="ctr">
              <a:defRPr sz="1100">
                <a:solidFill>
                  <a:srgbClr val="F5F8FC"/>
                </a:solidFill>
                <a:latin typeface="Aptos"/>
              </a:defRPr>
            </a:pPr>
            <a:r>
              <a:rPr dirty="0"/>
              <a:t>Input → hidden layers → output</a:t>
            </a:r>
            <a:endParaRPr dirty="0"/>
          </a:p>
        </p:txBody>
      </p:sp>
      <p:sp>
        <p:nvSpPr>
          <p:cNvPr id="10" name="Right Arrow 9"/>
          <p:cNvSpPr/>
          <p:nvPr/>
        </p:nvSpPr>
        <p:spPr>
          <a:xfrm>
            <a:off x="3127248" y="2029970"/>
            <a:ext cx="411480" cy="502920"/>
          </a:xfrm>
          <a:prstGeom prst="rightArrow">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39" y="1371602"/>
            <a:ext cx="2423160" cy="1554481"/>
          </a:xfrm>
          <a:prstGeom prst="roundRect">
            <a:avLst/>
          </a:prstGeom>
          <a:solidFill>
            <a:srgbClr val="11223A"/>
          </a:solidFill>
          <a:ln w="1651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59294" y="1554482"/>
            <a:ext cx="1554593" cy="307777"/>
          </a:xfrm>
          <a:prstGeom prst="rect">
            <a:avLst/>
          </a:prstGeom>
          <a:noFill/>
        </p:spPr>
        <p:txBody>
          <a:bodyPr wrap="none">
            <a:spAutoFit/>
          </a:bodyPr>
          <a:lstStyle/>
          <a:p>
            <a:pPr algn="ctr">
              <a:defRPr sz="1400" b="1">
                <a:solidFill>
                  <a:srgbClr val="FFAB40"/>
                </a:solidFill>
                <a:latin typeface="Aptos"/>
              </a:defRPr>
            </a:pPr>
            <a:r>
              <a:rPr dirty="0"/>
              <a:t>Activation layout</a:t>
            </a:r>
            <a:endParaRPr dirty="0"/>
          </a:p>
        </p:txBody>
      </p:sp>
      <p:sp>
        <p:nvSpPr>
          <p:cNvPr id="13" name="TextBox 12"/>
          <p:cNvSpPr txBox="1"/>
          <p:nvPr/>
        </p:nvSpPr>
        <p:spPr>
          <a:xfrm>
            <a:off x="3520441" y="2004051"/>
            <a:ext cx="2340863" cy="600164"/>
          </a:xfrm>
          <a:prstGeom prst="rect">
            <a:avLst/>
          </a:prstGeom>
          <a:noFill/>
        </p:spPr>
        <p:txBody>
          <a:bodyPr wrap="square">
            <a:spAutoFit/>
          </a:bodyPr>
          <a:lstStyle/>
          <a:p>
            <a:pPr algn="ctr">
              <a:defRPr sz="1100">
                <a:solidFill>
                  <a:srgbClr val="F5F8FC"/>
                </a:solidFill>
                <a:latin typeface="Aptos"/>
              </a:defRPr>
            </a:pPr>
            <a:r>
              <a:rPr lang="en-US" sz="1100" dirty="0"/>
              <a:t>Activation functions assigned to hidden neurons</a:t>
            </a:r>
            <a:endParaRPr lang="en-US" dirty="0"/>
          </a:p>
          <a:p>
            <a:pPr algn="ctr">
              <a:defRPr sz="1100">
                <a:solidFill>
                  <a:srgbClr val="F5F8FC"/>
                </a:solidFill>
                <a:latin typeface="Aptos"/>
              </a:defRPr>
            </a:pPr>
            <a:r>
              <a:rPr dirty="0" err="1"/>
              <a:t>ReLU</a:t>
            </a:r>
            <a:r>
              <a:rPr dirty="0"/>
              <a:t> / tanh / sigmoid / </a:t>
            </a:r>
            <a:r>
              <a:rPr lang="en-US" dirty="0"/>
              <a:t>Leaky </a:t>
            </a:r>
            <a:r>
              <a:rPr lang="en-US" dirty="0" err="1"/>
              <a:t>ReLU</a:t>
            </a:r>
            <a:endParaRPr dirty="0"/>
          </a:p>
        </p:txBody>
      </p:sp>
      <p:sp>
        <p:nvSpPr>
          <p:cNvPr id="14" name="Right Arrow 13"/>
          <p:cNvSpPr/>
          <p:nvPr/>
        </p:nvSpPr>
        <p:spPr>
          <a:xfrm>
            <a:off x="6007608" y="2029970"/>
            <a:ext cx="411480" cy="502920"/>
          </a:xfrm>
          <a:prstGeom prst="rightArrow">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1371603"/>
            <a:ext cx="2423160" cy="1554480"/>
          </a:xfrm>
          <a:prstGeom prst="roundRect">
            <a:avLst/>
          </a:prstGeom>
          <a:solidFill>
            <a:srgbClr val="11223A"/>
          </a:solidFill>
          <a:ln w="16510">
            <a:solidFill>
              <a:srgbClr val="60D3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18771" y="1554482"/>
            <a:ext cx="996362" cy="307777"/>
          </a:xfrm>
          <a:prstGeom prst="rect">
            <a:avLst/>
          </a:prstGeom>
          <a:noFill/>
        </p:spPr>
        <p:txBody>
          <a:bodyPr wrap="none">
            <a:spAutoFit/>
          </a:bodyPr>
          <a:lstStyle/>
          <a:p>
            <a:pPr algn="ctr">
              <a:defRPr sz="1400" b="1">
                <a:solidFill>
                  <a:srgbClr val="60D394"/>
                </a:solidFill>
                <a:latin typeface="Aptos"/>
              </a:defRPr>
            </a:pPr>
            <a:r>
              <a:rPr dirty="0"/>
              <a:t>SA search</a:t>
            </a:r>
            <a:endParaRPr dirty="0"/>
          </a:p>
        </p:txBody>
      </p:sp>
      <p:sp>
        <p:nvSpPr>
          <p:cNvPr id="17" name="TextBox 16"/>
          <p:cNvSpPr txBox="1"/>
          <p:nvPr/>
        </p:nvSpPr>
        <p:spPr>
          <a:xfrm>
            <a:off x="6553126" y="1992864"/>
            <a:ext cx="2103120" cy="430887"/>
          </a:xfrm>
          <a:prstGeom prst="rect">
            <a:avLst/>
          </a:prstGeom>
          <a:noFill/>
        </p:spPr>
        <p:txBody>
          <a:bodyPr wrap="square">
            <a:spAutoFit/>
          </a:bodyPr>
          <a:lstStyle/>
          <a:p>
            <a:pPr algn="ctr">
              <a:defRPr sz="1100">
                <a:solidFill>
                  <a:srgbClr val="F5F8FC"/>
                </a:solidFill>
                <a:latin typeface="Aptos"/>
              </a:defRPr>
            </a:pPr>
            <a:r>
              <a:rPr lang="en-US" sz="1100" dirty="0"/>
              <a:t>Small change → brief training → score → accept/reject</a:t>
            </a:r>
            <a:endParaRPr dirty="0"/>
          </a:p>
        </p:txBody>
      </p:sp>
      <p:sp>
        <p:nvSpPr>
          <p:cNvPr id="18" name="Right Arrow 17"/>
          <p:cNvSpPr/>
          <p:nvPr/>
        </p:nvSpPr>
        <p:spPr>
          <a:xfrm>
            <a:off x="8887968" y="2029970"/>
            <a:ext cx="411480" cy="502920"/>
          </a:xfrm>
          <a:prstGeom prst="rightArrow">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1371602"/>
            <a:ext cx="2423160" cy="1554481"/>
          </a:xfrm>
          <a:prstGeom prst="roundRect">
            <a:avLst/>
          </a:prstGeom>
          <a:solidFill>
            <a:srgbClr val="11223A"/>
          </a:solidFill>
          <a:ln w="1651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46112" y="1554482"/>
            <a:ext cx="1502398" cy="307777"/>
          </a:xfrm>
          <a:prstGeom prst="rect">
            <a:avLst/>
          </a:prstGeom>
          <a:noFill/>
        </p:spPr>
        <p:txBody>
          <a:bodyPr wrap="none">
            <a:spAutoFit/>
          </a:bodyPr>
          <a:lstStyle/>
          <a:p>
            <a:pPr algn="ctr">
              <a:defRPr sz="1400" b="1">
                <a:solidFill>
                  <a:srgbClr val="A78BFA"/>
                </a:solidFill>
                <a:latin typeface="Aptos"/>
              </a:defRPr>
            </a:pPr>
            <a:r>
              <a:rPr dirty="0"/>
              <a:t>Validation score</a:t>
            </a:r>
            <a:endParaRPr dirty="0"/>
          </a:p>
        </p:txBody>
      </p:sp>
      <p:sp>
        <p:nvSpPr>
          <p:cNvPr id="21" name="TextBox 20"/>
          <p:cNvSpPr txBox="1"/>
          <p:nvPr/>
        </p:nvSpPr>
        <p:spPr>
          <a:xfrm>
            <a:off x="9445751" y="2148842"/>
            <a:ext cx="2026846" cy="430887"/>
          </a:xfrm>
          <a:prstGeom prst="rect">
            <a:avLst/>
          </a:prstGeom>
          <a:noFill/>
        </p:spPr>
        <p:txBody>
          <a:bodyPr wrap="square">
            <a:spAutoFit/>
          </a:bodyPr>
          <a:lstStyle/>
          <a:p>
            <a:pPr algn="ctr">
              <a:defRPr sz="1100">
                <a:solidFill>
                  <a:srgbClr val="F5F8FC"/>
                </a:solidFill>
                <a:latin typeface="Aptos"/>
              </a:defRPr>
            </a:pPr>
            <a:r>
              <a:rPr lang="en-US" sz="1100" dirty="0"/>
              <a:t>Lower validation loss</a:t>
            </a:r>
            <a:br>
              <a:rPr lang="en-US" sz="1100" dirty="0"/>
            </a:br>
            <a:r>
              <a:rPr lang="en-US" sz="1100" dirty="0"/>
              <a:t>or higher validation accuracy</a:t>
            </a:r>
            <a:endParaRPr dirty="0"/>
          </a:p>
        </p:txBody>
      </p:sp>
      <p:sp>
        <p:nvSpPr>
          <p:cNvPr id="22" name="Rounded Rectangle 21"/>
          <p:cNvSpPr/>
          <p:nvPr/>
        </p:nvSpPr>
        <p:spPr>
          <a:xfrm>
            <a:off x="1389888" y="3232007"/>
            <a:ext cx="9235440" cy="2254390"/>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flipH="1">
            <a:off x="1536189" y="3486888"/>
            <a:ext cx="45719" cy="1812906"/>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3545467"/>
            <a:ext cx="8823960" cy="1754326"/>
          </a:xfrm>
          <a:prstGeom prst="rect">
            <a:avLst/>
          </a:prstGeom>
          <a:noFill/>
        </p:spPr>
        <p:txBody>
          <a:bodyPr wrap="square">
            <a:spAutoFit/>
          </a:bodyPr>
          <a:lstStyle/>
          <a:p>
            <a:pPr marL="285750" indent="-285750">
              <a:spcAft>
                <a:spcPts val="400"/>
              </a:spcAft>
              <a:buFont typeface="Arial" panose="020B0604020202020204" pitchFamily="34" charset="0"/>
              <a:buChar char="•"/>
              <a:defRPr sz="1120">
                <a:solidFill>
                  <a:srgbClr val="DAE5F3"/>
                </a:solidFill>
                <a:latin typeface="Aptos"/>
              </a:defRPr>
            </a:pPr>
            <a:r>
              <a:rPr lang="en-US" sz="1400" dirty="0"/>
              <a:t>In this project, We keep the network structure fixed, so the number of layers and neurons does not change.</a:t>
            </a:r>
            <a:endParaRPr lang="en-US" sz="1400" dirty="0"/>
          </a:p>
          <a:p>
            <a:pPr marL="285750" indent="-285750">
              <a:spcAft>
                <a:spcPts val="400"/>
              </a:spcAft>
              <a:buFont typeface="Arial" panose="020B0604020202020204" pitchFamily="34" charset="0"/>
              <a:buChar char="•"/>
              <a:defRPr sz="1120">
                <a:solidFill>
                  <a:srgbClr val="DAE5F3"/>
                </a:solidFill>
                <a:latin typeface="Aptos"/>
              </a:defRPr>
            </a:pPr>
            <a:r>
              <a:rPr lang="en-US" sz="1400" dirty="0"/>
              <a:t> What we change is the activation layout, meaning which activation function is assigned to each hidden neuron. </a:t>
            </a:r>
            <a:endParaRPr lang="en-US" sz="1400" dirty="0"/>
          </a:p>
          <a:p>
            <a:pPr marL="285750" indent="-285750">
              <a:spcAft>
                <a:spcPts val="400"/>
              </a:spcAft>
              <a:buFont typeface="Arial" panose="020B0604020202020204" pitchFamily="34" charset="0"/>
              <a:buChar char="•"/>
              <a:defRPr sz="1120">
                <a:solidFill>
                  <a:srgbClr val="DAE5F3"/>
                </a:solidFill>
                <a:latin typeface="Aptos"/>
              </a:defRPr>
            </a:pPr>
            <a:r>
              <a:rPr lang="en-US" sz="1400" dirty="0"/>
              <a:t>Simulated Annealing searches through different layouts by making small changes, briefly training the candidate, and checking the validation score.</a:t>
            </a:r>
            <a:endParaRPr lang="en-US" sz="1400" dirty="0"/>
          </a:p>
          <a:p>
            <a:pPr marL="285750" indent="-285750">
              <a:spcAft>
                <a:spcPts val="400"/>
              </a:spcAft>
              <a:buFont typeface="Arial" panose="020B0604020202020204" pitchFamily="34" charset="0"/>
              <a:buChar char="•"/>
              <a:defRPr sz="1120">
                <a:solidFill>
                  <a:srgbClr val="DAE5F3"/>
                </a:solidFill>
                <a:latin typeface="Aptos"/>
              </a:defRPr>
            </a:pPr>
            <a:r>
              <a:rPr lang="en-US" sz="1400" dirty="0"/>
              <a:t> The main distinction is that gradient descent trains the weights, while Simulated Annealing searches for better activation-function layouts.</a:t>
            </a: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5830570" cy="507831"/>
          </a:xfrm>
          <a:prstGeom prst="rect">
            <a:avLst/>
          </a:prstGeom>
          <a:noFill/>
        </p:spPr>
        <p:txBody>
          <a:bodyPr wrap="none">
            <a:spAutoFit/>
          </a:bodyPr>
          <a:lstStyle/>
          <a:p>
            <a:pPr>
              <a:defRPr sz="2700" b="1">
                <a:solidFill>
                  <a:srgbClr val="F5F8FC"/>
                </a:solidFill>
                <a:latin typeface="Aptos Display"/>
              </a:defRPr>
            </a:pPr>
            <a:r>
              <a:rPr dirty="0"/>
              <a:t>Introduction </a:t>
            </a:r>
            <a:r>
              <a:rPr lang="en-US" dirty="0"/>
              <a:t>: </a:t>
            </a:r>
            <a:r>
              <a:rPr lang="en-US" sz="2700" b="1" dirty="0"/>
              <a:t>Why this project matters</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08</a:t>
            </a:r>
          </a:p>
        </p:txBody>
      </p:sp>
      <p:sp>
        <p:nvSpPr>
          <p:cNvPr id="11" name="Rounded Rectangle 10"/>
          <p:cNvSpPr/>
          <p:nvPr/>
        </p:nvSpPr>
        <p:spPr>
          <a:xfrm>
            <a:off x="405512" y="1143000"/>
            <a:ext cx="11152376" cy="4846320"/>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5512" y="1143000"/>
            <a:ext cx="64008" cy="484632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774" y="1593825"/>
            <a:ext cx="10650114" cy="3944670"/>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Neural networks are trained to make predictions from data.</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During training, the network usually learns: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Weights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Biases</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However, another important design choice is often fixed before training starts: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activation functions</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2000" b="1" dirty="0">
                <a:solidFill>
                  <a:srgbClr val="24C4E6"/>
                </a:solidFill>
                <a:latin typeface="Aptos Display"/>
              </a:rPr>
              <a:t>Main question:</a:t>
            </a:r>
            <a:endParaRPr lang="en-US" sz="2000" b="1" dirty="0">
              <a:solidFill>
                <a:srgbClr val="24C4E6"/>
              </a:solidFill>
              <a:latin typeface="Aptos Display"/>
            </a:endParaRPr>
          </a:p>
          <a:p>
            <a:pPr>
              <a:spcAft>
                <a:spcPts val="700"/>
              </a:spcAft>
              <a:defRPr sz="1300">
                <a:solidFill>
                  <a:srgbClr val="DAE5F3"/>
                </a:solidFill>
                <a:latin typeface="Aptos"/>
              </a:defRPr>
            </a:pPr>
            <a:r>
              <a:rPr lang="en-US" sz="1720" dirty="0">
                <a:solidFill>
                  <a:srgbClr val="F5F8FC"/>
                </a:solidFill>
                <a:latin typeface="Aptos"/>
              </a:rPr>
              <a:t>Can we improve a neural network by searching for a better distribution of activation functions?</a:t>
            </a:r>
            <a:endParaRPr sz="1720" dirty="0">
              <a:solidFill>
                <a:srgbClr val="F5F8FC"/>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6766468" cy="507831"/>
          </a:xfrm>
          <a:prstGeom prst="rect">
            <a:avLst/>
          </a:prstGeom>
          <a:noFill/>
        </p:spPr>
        <p:txBody>
          <a:bodyPr wrap="none">
            <a:spAutoFit/>
          </a:bodyPr>
          <a:lstStyle/>
          <a:p>
            <a:pPr>
              <a:defRPr sz="2700" b="1">
                <a:solidFill>
                  <a:srgbClr val="F5F8FC"/>
                </a:solidFill>
                <a:latin typeface="Aptos Display"/>
              </a:defRPr>
            </a:pPr>
            <a:r>
              <a:rPr dirty="0"/>
              <a:t>Introduction: </a:t>
            </a:r>
            <a:r>
              <a:rPr lang="en-US" sz="2700" b="1" dirty="0"/>
              <a:t>What is an Activation Function?</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07</a:t>
            </a:r>
          </a:p>
        </p:txBody>
      </p:sp>
      <p:sp>
        <p:nvSpPr>
          <p:cNvPr id="31" name="Rounded Rectangle 10"/>
          <p:cNvSpPr/>
          <p:nvPr/>
        </p:nvSpPr>
        <p:spPr>
          <a:xfrm>
            <a:off x="405512" y="1083366"/>
            <a:ext cx="11152376" cy="5330952"/>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05512" y="1229138"/>
            <a:ext cx="64008" cy="5019261"/>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2526" y="1334130"/>
            <a:ext cx="10650114" cy="4964949"/>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A neuron first computes a weighted input:</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Then an activation function transforms this signal into the neuron’s output.</a:t>
            </a: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Examples: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err="1">
                <a:solidFill>
                  <a:srgbClr val="F5F8FC"/>
                </a:solidFill>
                <a:latin typeface="Aptos"/>
              </a:rPr>
              <a:t>ReLU</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tanh</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Sigmoid</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Leaky </a:t>
            </a:r>
            <a:r>
              <a:rPr lang="en-US" sz="1720" dirty="0" err="1">
                <a:solidFill>
                  <a:srgbClr val="F5F8FC"/>
                </a:solidFill>
                <a:latin typeface="Aptos"/>
              </a:rPr>
              <a:t>ReLU</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Swish</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GELU</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p:txBody>
      </p:sp>
      <p:sp>
        <p:nvSpPr>
          <p:cNvPr id="34" name="Rounded Rectangle 6"/>
          <p:cNvSpPr/>
          <p:nvPr/>
        </p:nvSpPr>
        <p:spPr>
          <a:xfrm>
            <a:off x="1713506" y="1795670"/>
            <a:ext cx="2423160" cy="841513"/>
          </a:xfrm>
          <a:prstGeom prst="roundRect">
            <a:avLst/>
          </a:prstGeom>
          <a:solidFill>
            <a:srgbClr val="11223A"/>
          </a:solidFill>
          <a:ln w="16510">
            <a:solidFill>
              <a:srgbClr val="24C4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93209" y="2044809"/>
            <a:ext cx="1219886" cy="307777"/>
          </a:xfrm>
          <a:prstGeom prst="rect">
            <a:avLst/>
          </a:prstGeom>
          <a:noFill/>
        </p:spPr>
        <p:txBody>
          <a:bodyPr wrap="none">
            <a:spAutoFit/>
          </a:bodyPr>
          <a:lstStyle/>
          <a:p>
            <a:pPr algn="ctr">
              <a:defRPr sz="1400" b="1">
                <a:solidFill>
                  <a:srgbClr val="24C4E6"/>
                </a:solidFill>
                <a:latin typeface="Aptos"/>
              </a:defRPr>
            </a:pPr>
            <a:r>
              <a:rPr lang="en-US" sz="1400" b="1" dirty="0"/>
              <a:t>input values </a:t>
            </a:r>
            <a:endParaRPr dirty="0"/>
          </a:p>
        </p:txBody>
      </p:sp>
      <p:sp>
        <p:nvSpPr>
          <p:cNvPr id="37" name="Right Arrow 9"/>
          <p:cNvSpPr/>
          <p:nvPr/>
        </p:nvSpPr>
        <p:spPr>
          <a:xfrm>
            <a:off x="4167544" y="2096233"/>
            <a:ext cx="411480" cy="272254"/>
          </a:xfrm>
          <a:prstGeom prst="rightArrow">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10"/>
          <p:cNvSpPr/>
          <p:nvPr/>
        </p:nvSpPr>
        <p:spPr>
          <a:xfrm>
            <a:off x="4593865" y="1795670"/>
            <a:ext cx="2423160" cy="841514"/>
          </a:xfrm>
          <a:prstGeom prst="roundRect">
            <a:avLst/>
          </a:prstGeom>
          <a:solidFill>
            <a:srgbClr val="11223A"/>
          </a:solidFill>
          <a:ln w="16510">
            <a:solidFill>
              <a:srgbClr val="FFA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15894" y="2044809"/>
            <a:ext cx="1335237" cy="307777"/>
          </a:xfrm>
          <a:prstGeom prst="rect">
            <a:avLst/>
          </a:prstGeom>
          <a:noFill/>
        </p:spPr>
        <p:txBody>
          <a:bodyPr wrap="none">
            <a:spAutoFit/>
          </a:bodyPr>
          <a:lstStyle/>
          <a:p>
            <a:pPr algn="ctr">
              <a:defRPr sz="1400" b="1">
                <a:solidFill>
                  <a:srgbClr val="FFAB40"/>
                </a:solidFill>
                <a:latin typeface="Aptos"/>
              </a:defRPr>
            </a:pPr>
            <a:r>
              <a:rPr lang="en-US" sz="1400" b="1" dirty="0"/>
              <a:t>weights + bias</a:t>
            </a:r>
            <a:endParaRPr dirty="0"/>
          </a:p>
        </p:txBody>
      </p:sp>
      <p:sp>
        <p:nvSpPr>
          <p:cNvPr id="41" name="Right Arrow 13"/>
          <p:cNvSpPr/>
          <p:nvPr/>
        </p:nvSpPr>
        <p:spPr>
          <a:xfrm>
            <a:off x="7047904" y="2096233"/>
            <a:ext cx="411480" cy="272254"/>
          </a:xfrm>
          <a:prstGeom prst="rightArrow">
            <a:avLst/>
          </a:prstGeom>
          <a:solidFill>
            <a:srgbClr val="A9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14"/>
          <p:cNvSpPr/>
          <p:nvPr/>
        </p:nvSpPr>
        <p:spPr>
          <a:xfrm>
            <a:off x="7474226" y="1795670"/>
            <a:ext cx="2423160" cy="841513"/>
          </a:xfrm>
          <a:prstGeom prst="roundRect">
            <a:avLst/>
          </a:prstGeom>
          <a:solidFill>
            <a:srgbClr val="11223A"/>
          </a:solidFill>
          <a:ln w="16510">
            <a:solidFill>
              <a:srgbClr val="60D3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90099" y="2044809"/>
            <a:ext cx="1347549" cy="307777"/>
          </a:xfrm>
          <a:prstGeom prst="rect">
            <a:avLst/>
          </a:prstGeom>
          <a:noFill/>
        </p:spPr>
        <p:txBody>
          <a:bodyPr wrap="none">
            <a:spAutoFit/>
          </a:bodyPr>
          <a:lstStyle/>
          <a:p>
            <a:pPr algn="ctr">
              <a:defRPr sz="1400" b="1">
                <a:solidFill>
                  <a:srgbClr val="60D394"/>
                </a:solidFill>
                <a:latin typeface="Aptos"/>
              </a:defRPr>
            </a:pPr>
            <a:r>
              <a:rPr lang="en-US" sz="1400" b="1" dirty="0"/>
              <a:t>internal signal</a:t>
            </a:r>
            <a:endParaRPr dirty="0"/>
          </a:p>
        </p:txBody>
      </p:sp>
      <p:sp>
        <p:nvSpPr>
          <p:cNvPr id="50" name="Rounded Rectangle 6"/>
          <p:cNvSpPr/>
          <p:nvPr/>
        </p:nvSpPr>
        <p:spPr>
          <a:xfrm>
            <a:off x="3513094" y="3955773"/>
            <a:ext cx="8518289" cy="1537223"/>
          </a:xfrm>
          <a:prstGeom prst="roundRect">
            <a:avLst/>
          </a:prstGeom>
          <a:solidFill>
            <a:srgbClr val="0E1D32"/>
          </a:solidFill>
          <a:ln w="19050">
            <a:solidFill>
              <a:srgbClr val="24C4E6"/>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300">
                <a:solidFill>
                  <a:srgbClr val="DAE5F3"/>
                </a:solidFill>
                <a:latin typeface="Aptos"/>
              </a:defRPr>
            </a:pPr>
            <a:r>
              <a:rPr lang="en-US" sz="1600" b="1" dirty="0">
                <a:solidFill>
                  <a:srgbClr val="24C4E6"/>
                </a:solidFill>
                <a:latin typeface="Aptos Display"/>
              </a:rPr>
              <a:t>Simple explanation: Activation functions help the network learn non-linear patterns.</a:t>
            </a:r>
            <a:endParaRPr lang="en-US" sz="1600" b="1" dirty="0">
              <a:solidFill>
                <a:srgbClr val="24C4E6"/>
              </a:solidFill>
              <a:latin typeface="Aptos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4924425"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The Usual Problem</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dirty="0"/>
              <a:t>Activation functions are usually chosen manually</a:t>
            </a:r>
            <a:endParaRPr lang="en-US" sz="1900" dirty="0"/>
          </a:p>
        </p:txBody>
      </p:sp>
      <p:sp>
        <p:nvSpPr>
          <p:cNvPr id="18" name="TextBox 17"/>
          <p:cNvSpPr txBox="1"/>
          <p:nvPr/>
        </p:nvSpPr>
        <p:spPr>
          <a:xfrm>
            <a:off x="758951" y="1856232"/>
            <a:ext cx="8789239" cy="3944670"/>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In many neural networks: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architecture is fixed before training</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activation functions are selected manually</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same activation is often used for a whole layer</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training does not change the activation functions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Example:</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Layer 1: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Layer 2: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2000" b="1" dirty="0">
                <a:solidFill>
                  <a:srgbClr val="24C4E6"/>
                </a:solidFill>
                <a:latin typeface="Aptos Display"/>
              </a:rPr>
              <a:t>Problem: This may not be the best activation-function distribution.</a:t>
            </a:r>
            <a:endParaRPr sz="2000" b="1" dirty="0">
              <a:solidFill>
                <a:srgbClr val="24C4E6"/>
              </a:solidFill>
              <a:latin typeface="Aptos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4513608"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Our Project Idea</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b="1" dirty="0"/>
              <a:t>Turning activation-function choice into a search problem</a:t>
            </a:r>
            <a:endParaRPr lang="en-US" sz="1900" dirty="0"/>
          </a:p>
        </p:txBody>
      </p:sp>
      <p:sp>
        <p:nvSpPr>
          <p:cNvPr id="18" name="TextBox 17"/>
          <p:cNvSpPr txBox="1"/>
          <p:nvPr/>
        </p:nvSpPr>
        <p:spPr>
          <a:xfrm>
            <a:off x="758951" y="1856232"/>
            <a:ext cx="8789239" cy="3145989"/>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Instead of using only one fixed activation setup, we treat activation-function assignment as a search problem.</a:t>
            </a: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A layout describes which activation function each hidden neuron uses.</a:t>
            </a: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Example layouts:</a:t>
            </a:r>
            <a:endParaRPr lang="en-US" sz="1720" dirty="0">
              <a:solidFill>
                <a:srgbClr val="F5F8FC"/>
              </a:solidFill>
              <a:latin typeface="Aptos"/>
            </a:endParaRPr>
          </a:p>
          <a:p>
            <a:pPr marL="285750" indent="-285750">
              <a:spcAft>
                <a:spcPts val="700"/>
              </a:spcAft>
              <a:buFont typeface="Wingdings" panose="05000000000000000000" pitchFamily="2" charset="2"/>
              <a:buChar char="Ø"/>
              <a:defRPr sz="1300">
                <a:solidFill>
                  <a:srgbClr val="DAE5F3"/>
                </a:solidFill>
                <a:latin typeface="Aptos"/>
              </a:defRPr>
            </a:pP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endParaRPr lang="en-US" sz="1720" dirty="0">
              <a:solidFill>
                <a:srgbClr val="F5F8FC"/>
              </a:solidFill>
              <a:latin typeface="Aptos"/>
            </a:endParaRPr>
          </a:p>
          <a:p>
            <a:pPr marL="285750" indent="-285750">
              <a:spcAft>
                <a:spcPts val="700"/>
              </a:spcAft>
              <a:buFont typeface="Wingdings" panose="05000000000000000000" pitchFamily="2" charset="2"/>
              <a:buChar char="Ø"/>
              <a:defRPr sz="1300">
                <a:solidFill>
                  <a:srgbClr val="DAE5F3"/>
                </a:solidFill>
                <a:latin typeface="Aptos"/>
              </a:defRPr>
            </a:pPr>
            <a:r>
              <a:rPr lang="en-US" sz="1720" dirty="0" err="1">
                <a:solidFill>
                  <a:srgbClr val="F5F8FC"/>
                </a:solidFill>
                <a:latin typeface="Aptos"/>
              </a:rPr>
              <a:t>ReLU</a:t>
            </a:r>
            <a:r>
              <a:rPr lang="en-US" sz="1720" dirty="0">
                <a:solidFill>
                  <a:srgbClr val="F5F8FC"/>
                </a:solidFill>
                <a:latin typeface="Aptos"/>
              </a:rPr>
              <a:t>, tanh, </a:t>
            </a:r>
            <a:r>
              <a:rPr lang="en-US" sz="1720" dirty="0" err="1">
                <a:solidFill>
                  <a:srgbClr val="F5F8FC"/>
                </a:solidFill>
                <a:latin typeface="Aptos"/>
              </a:rPr>
              <a:t>ReLU</a:t>
            </a:r>
            <a:r>
              <a:rPr lang="en-US" sz="1720" dirty="0">
                <a:solidFill>
                  <a:srgbClr val="F5F8FC"/>
                </a:solidFill>
                <a:latin typeface="Aptos"/>
              </a:rPr>
              <a:t>, sigmoid</a:t>
            </a:r>
            <a:endParaRPr lang="en-US" sz="1720" dirty="0">
              <a:solidFill>
                <a:srgbClr val="F5F8FC"/>
              </a:solidFill>
              <a:latin typeface="Aptos"/>
            </a:endParaRPr>
          </a:p>
          <a:p>
            <a:pPr marL="285750" indent="-285750">
              <a:spcAft>
                <a:spcPts val="700"/>
              </a:spcAft>
              <a:buFont typeface="Wingdings" panose="05000000000000000000" pitchFamily="2" charset="2"/>
              <a:buChar char="Ø"/>
              <a:defRPr sz="1300">
                <a:solidFill>
                  <a:srgbClr val="DAE5F3"/>
                </a:solidFill>
                <a:latin typeface="Aptos"/>
              </a:defRPr>
            </a:pPr>
            <a:r>
              <a:rPr lang="en-US" sz="1720" dirty="0">
                <a:solidFill>
                  <a:srgbClr val="F5F8FC"/>
                </a:solidFill>
                <a:latin typeface="Aptos"/>
              </a:rPr>
              <a:t>Leaky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tanh, sigmoid</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2000" b="1" dirty="0">
                <a:solidFill>
                  <a:srgbClr val="24C4E6"/>
                </a:solidFill>
                <a:latin typeface="Aptos Display"/>
              </a:rPr>
              <a:t>Goal: Find layouts that perform better on validation data.</a:t>
            </a:r>
            <a:endParaRPr sz="2000" b="1" dirty="0">
              <a:solidFill>
                <a:srgbClr val="24C4E6"/>
              </a:solidFill>
              <a:latin typeface="Aptos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6094810"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Why Simulated Annealing?</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b="1" dirty="0"/>
              <a:t>Activation-function choices are discrete.</a:t>
            </a:r>
            <a:endParaRPr lang="en-US" sz="1900" b="1" dirty="0"/>
          </a:p>
        </p:txBody>
      </p:sp>
      <p:sp>
        <p:nvSpPr>
          <p:cNvPr id="18" name="TextBox 17"/>
          <p:cNvSpPr txBox="1"/>
          <p:nvPr/>
        </p:nvSpPr>
        <p:spPr>
          <a:xfrm>
            <a:off x="758951" y="1856232"/>
            <a:ext cx="8789239" cy="3278846"/>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This means we cannot directly train them like weights.</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2000" b="1" dirty="0">
                <a:solidFill>
                  <a:srgbClr val="24C4E6"/>
                </a:solidFill>
                <a:latin typeface="Aptos Display"/>
              </a:rPr>
              <a:t>Simulated Annealing is useful because it can:</a:t>
            </a:r>
            <a:endParaRPr lang="en-US" sz="2000" b="1" dirty="0">
              <a:solidFill>
                <a:srgbClr val="24C4E6"/>
              </a:solidFill>
              <a:latin typeface="Aptos Display"/>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search through many possible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make small changes step by step</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accept better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sometimes accept worse layouts to avoid getting stuck</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gradually become more conservative</a:t>
            </a:r>
            <a:endParaRPr lang="en-US" sz="1720" dirty="0">
              <a:solidFill>
                <a:srgbClr val="F5F8FC"/>
              </a:solidFill>
              <a:latin typeface="Aptos"/>
            </a:endParaRPr>
          </a:p>
          <a:p>
            <a:pPr>
              <a:spcAft>
                <a:spcPts val="700"/>
              </a:spcAft>
              <a:defRPr sz="1300">
                <a:solidFill>
                  <a:srgbClr val="DAE5F3"/>
                </a:solidFill>
                <a:latin typeface="Aptos"/>
              </a:defRPr>
            </a:pPr>
            <a:endParaRPr sz="2000" b="1" dirty="0">
              <a:solidFill>
                <a:srgbClr val="24C4E6"/>
              </a:solidFill>
              <a:latin typeface="Aptos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5722144"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Two Different Processes</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11</a:t>
            </a:r>
          </a:p>
        </p:txBody>
      </p:sp>
      <p:sp>
        <p:nvSpPr>
          <p:cNvPr id="7" name="Rounded Rectangle 6"/>
          <p:cNvSpPr/>
          <p:nvPr/>
        </p:nvSpPr>
        <p:spPr>
          <a:xfrm>
            <a:off x="974696" y="1143000"/>
            <a:ext cx="4412313" cy="1878496"/>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4697" y="1196008"/>
            <a:ext cx="45719" cy="1766876"/>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203297" y="1307592"/>
            <a:ext cx="2038286" cy="323165"/>
          </a:xfrm>
          <a:prstGeom prst="rect">
            <a:avLst/>
          </a:prstGeom>
          <a:noFill/>
        </p:spPr>
        <p:txBody>
          <a:bodyPr wrap="square">
            <a:spAutoFit/>
          </a:bodyPr>
          <a:lstStyle/>
          <a:p>
            <a:pPr>
              <a:defRPr sz="1500" b="1">
                <a:solidFill>
                  <a:srgbClr val="F5F8FC"/>
                </a:solidFill>
                <a:latin typeface="Aptos"/>
              </a:defRPr>
            </a:pPr>
            <a:r>
              <a:rPr lang="en-US" dirty="0"/>
              <a:t>Gradient Descent </a:t>
            </a:r>
            <a:endParaRPr dirty="0"/>
          </a:p>
        </p:txBody>
      </p:sp>
      <p:sp>
        <p:nvSpPr>
          <p:cNvPr id="10" name="TextBox 9"/>
          <p:cNvSpPr txBox="1"/>
          <p:nvPr/>
        </p:nvSpPr>
        <p:spPr>
          <a:xfrm>
            <a:off x="1203296" y="1737360"/>
            <a:ext cx="3767274" cy="872034"/>
          </a:xfrm>
          <a:prstGeom prst="rect">
            <a:avLst/>
          </a:prstGeom>
          <a:noFill/>
        </p:spPr>
        <p:txBody>
          <a:bodyPr wrap="square">
            <a:spAutoFit/>
          </a:bodyPr>
          <a:lstStyle/>
          <a:p>
            <a:pPr marL="285750" indent="-285750">
              <a:spcAft>
                <a:spcPts val="700"/>
              </a:spcAft>
              <a:buFont typeface="Arial" panose="020B0604020202020204" pitchFamily="34" charset="0"/>
              <a:buChar char="•"/>
              <a:defRPr sz="1300">
                <a:solidFill>
                  <a:srgbClr val="DAE5F3"/>
                </a:solidFill>
                <a:latin typeface="Aptos"/>
              </a:defRPr>
            </a:pPr>
            <a:r>
              <a:rPr lang="en-US" dirty="0"/>
              <a:t>trains weights and biases</a:t>
            </a:r>
            <a:endParaRPr lang="en-US" dirty="0"/>
          </a:p>
          <a:p>
            <a:pPr marL="285750" indent="-285750">
              <a:spcAft>
                <a:spcPts val="700"/>
              </a:spcAft>
              <a:buFont typeface="Arial" panose="020B0604020202020204" pitchFamily="34" charset="0"/>
              <a:buChar char="•"/>
              <a:defRPr sz="1300">
                <a:solidFill>
                  <a:srgbClr val="DAE5F3"/>
                </a:solidFill>
                <a:latin typeface="Aptos"/>
              </a:defRPr>
            </a:pPr>
            <a:r>
              <a:rPr lang="en-US" dirty="0"/>
              <a:t>works inside one fixed activation layout</a:t>
            </a:r>
            <a:endParaRPr lang="en-US" dirty="0"/>
          </a:p>
          <a:p>
            <a:pPr marL="285750" indent="-285750">
              <a:spcAft>
                <a:spcPts val="700"/>
              </a:spcAft>
              <a:buFont typeface="Arial" panose="020B0604020202020204" pitchFamily="34" charset="0"/>
              <a:buChar char="•"/>
              <a:defRPr sz="1300">
                <a:solidFill>
                  <a:srgbClr val="DAE5F3"/>
                </a:solidFill>
                <a:latin typeface="Aptos"/>
              </a:defRPr>
            </a:pPr>
            <a:r>
              <a:rPr lang="en-US" dirty="0"/>
              <a:t>reduces prediction error</a:t>
            </a:r>
            <a:endParaRPr dirty="0"/>
          </a:p>
        </p:txBody>
      </p:sp>
      <p:sp>
        <p:nvSpPr>
          <p:cNvPr id="11" name="Rounded Rectangle 10"/>
          <p:cNvSpPr/>
          <p:nvPr/>
        </p:nvSpPr>
        <p:spPr>
          <a:xfrm>
            <a:off x="6096001" y="1143000"/>
            <a:ext cx="4602480" cy="1878496"/>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14286" y="1196008"/>
            <a:ext cx="45721" cy="17668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600" y="1307592"/>
            <a:ext cx="1993879" cy="323165"/>
          </a:xfrm>
          <a:prstGeom prst="rect">
            <a:avLst/>
          </a:prstGeom>
          <a:noFill/>
        </p:spPr>
        <p:txBody>
          <a:bodyPr wrap="none">
            <a:spAutoFit/>
          </a:bodyPr>
          <a:lstStyle/>
          <a:p>
            <a:pPr>
              <a:defRPr sz="1500" b="1">
                <a:solidFill>
                  <a:srgbClr val="F5F8FC"/>
                </a:solidFill>
                <a:latin typeface="Aptos"/>
              </a:defRPr>
            </a:pPr>
            <a:r>
              <a:rPr lang="en-US" sz="1500" b="1" dirty="0"/>
              <a:t>Simulated Annealing</a:t>
            </a:r>
            <a:endParaRPr dirty="0"/>
          </a:p>
        </p:txBody>
      </p:sp>
      <p:sp>
        <p:nvSpPr>
          <p:cNvPr id="15" name="Rounded Rectangle 14"/>
          <p:cNvSpPr/>
          <p:nvPr/>
        </p:nvSpPr>
        <p:spPr>
          <a:xfrm>
            <a:off x="974696" y="3426747"/>
            <a:ext cx="9723785" cy="2123661"/>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96635" y="3426747"/>
            <a:ext cx="45719" cy="2123661"/>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3295" y="3678064"/>
            <a:ext cx="1783458" cy="323165"/>
          </a:xfrm>
          <a:prstGeom prst="rect">
            <a:avLst/>
          </a:prstGeom>
          <a:noFill/>
        </p:spPr>
        <p:txBody>
          <a:bodyPr wrap="square">
            <a:spAutoFit/>
          </a:bodyPr>
          <a:lstStyle/>
          <a:p>
            <a:pPr>
              <a:defRPr sz="1500" b="1">
                <a:solidFill>
                  <a:srgbClr val="F5F8FC"/>
                </a:solidFill>
                <a:latin typeface="Aptos"/>
              </a:defRPr>
            </a:pPr>
            <a:r>
              <a:rPr lang="en-US" sz="1500" b="1" dirty="0"/>
              <a:t>Key distinction:</a:t>
            </a:r>
            <a:endParaRPr dirty="0"/>
          </a:p>
        </p:txBody>
      </p:sp>
      <p:sp>
        <p:nvSpPr>
          <p:cNvPr id="18" name="TextBox 17"/>
          <p:cNvSpPr txBox="1"/>
          <p:nvPr/>
        </p:nvSpPr>
        <p:spPr>
          <a:xfrm>
            <a:off x="1203296" y="4021107"/>
            <a:ext cx="7775051" cy="582211"/>
          </a:xfrm>
          <a:prstGeom prst="rect">
            <a:avLst/>
          </a:prstGeom>
          <a:noFill/>
        </p:spPr>
        <p:txBody>
          <a:bodyPr wrap="square">
            <a:spAutoFit/>
          </a:bodyPr>
          <a:lstStyle/>
          <a:p>
            <a:pPr marL="285750" indent="-285750">
              <a:spcAft>
                <a:spcPts val="700"/>
              </a:spcAft>
              <a:buFont typeface="Arial" panose="020B0604020202020204" pitchFamily="34" charset="0"/>
              <a:buChar char="•"/>
              <a:defRPr sz="1300">
                <a:solidFill>
                  <a:srgbClr val="DAE5F3"/>
                </a:solidFill>
                <a:latin typeface="Aptos"/>
              </a:defRPr>
            </a:pPr>
            <a:r>
              <a:rPr lang="en-US" sz="1300" dirty="0"/>
              <a:t>Gradient descent trains the network parameters.</a:t>
            </a:r>
            <a:endParaRPr lang="en-US" sz="1300" dirty="0"/>
          </a:p>
          <a:p>
            <a:pPr marL="285750" indent="-285750">
              <a:spcAft>
                <a:spcPts val="700"/>
              </a:spcAft>
              <a:buFont typeface="Arial" panose="020B0604020202020204" pitchFamily="34" charset="0"/>
              <a:buChar char="•"/>
              <a:defRPr sz="1300">
                <a:solidFill>
                  <a:srgbClr val="DAE5F3"/>
                </a:solidFill>
                <a:latin typeface="Aptos"/>
              </a:defRPr>
            </a:pPr>
            <a:r>
              <a:rPr lang="en-US" sz="1300" dirty="0"/>
              <a:t>Simulated Annealing searches for better activation layouts.</a:t>
            </a:r>
            <a:endParaRPr dirty="0"/>
          </a:p>
        </p:txBody>
      </p:sp>
      <p:sp>
        <p:nvSpPr>
          <p:cNvPr id="25" name="TextBox 24"/>
          <p:cNvSpPr txBox="1"/>
          <p:nvPr/>
        </p:nvSpPr>
        <p:spPr>
          <a:xfrm>
            <a:off x="6324600" y="1778049"/>
            <a:ext cx="4593203" cy="872034"/>
          </a:xfrm>
          <a:prstGeom prst="rect">
            <a:avLst/>
          </a:prstGeom>
          <a:noFill/>
        </p:spPr>
        <p:txBody>
          <a:bodyPr wrap="square">
            <a:spAutoFit/>
          </a:bodyPr>
          <a:lstStyle/>
          <a:p>
            <a:pPr marL="285750" indent="-285750">
              <a:spcAft>
                <a:spcPts val="700"/>
              </a:spcAft>
              <a:buFont typeface="Arial" panose="020B0604020202020204" pitchFamily="34" charset="0"/>
              <a:buChar char="•"/>
              <a:defRPr sz="1300">
                <a:solidFill>
                  <a:srgbClr val="DAE5F3"/>
                </a:solidFill>
                <a:latin typeface="Aptos"/>
              </a:defRPr>
            </a:pPr>
            <a:r>
              <a:rPr lang="en-US" dirty="0"/>
              <a:t>searches over activation-function layouts</a:t>
            </a:r>
            <a:endParaRPr lang="en-US" dirty="0"/>
          </a:p>
          <a:p>
            <a:pPr marL="285750" indent="-285750">
              <a:spcAft>
                <a:spcPts val="700"/>
              </a:spcAft>
              <a:buFont typeface="Arial" panose="020B0604020202020204" pitchFamily="34" charset="0"/>
              <a:buChar char="•"/>
              <a:defRPr sz="1300">
                <a:solidFill>
                  <a:srgbClr val="DAE5F3"/>
                </a:solidFill>
                <a:latin typeface="Aptos"/>
              </a:defRPr>
            </a:pPr>
            <a:r>
              <a:rPr lang="en-US" dirty="0"/>
              <a:t>proposes small layout changes</a:t>
            </a:r>
            <a:endParaRPr lang="en-US" dirty="0"/>
          </a:p>
          <a:p>
            <a:pPr marL="285750" indent="-285750">
              <a:spcAft>
                <a:spcPts val="700"/>
              </a:spcAft>
              <a:buFont typeface="Arial" panose="020B0604020202020204" pitchFamily="34" charset="0"/>
              <a:buChar char="•"/>
              <a:defRPr sz="1300">
                <a:solidFill>
                  <a:srgbClr val="DAE5F3"/>
                </a:solidFill>
                <a:latin typeface="Aptos"/>
              </a:defRPr>
            </a:pPr>
            <a:r>
              <a:rPr lang="en-US" dirty="0"/>
              <a:t>uses validation performance to guide the search</a:t>
            </a:r>
            <a:endParaRPr dirty="0"/>
          </a:p>
        </p:txBody>
      </p:sp>
      <p:pic>
        <p:nvPicPr>
          <p:cNvPr id="32" name="Graphic 31" descr="Badge 1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87437" y="1213838"/>
            <a:ext cx="699572" cy="699572"/>
          </a:xfrm>
          <a:prstGeom prst="rect">
            <a:avLst/>
          </a:prstGeom>
        </p:spPr>
      </p:pic>
      <p:pic>
        <p:nvPicPr>
          <p:cNvPr id="34" name="Graphic 33" descr="Badge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61227" y="1196008"/>
            <a:ext cx="696070" cy="696070"/>
          </a:xfrm>
          <a:prstGeom prst="rect">
            <a:avLst/>
          </a:prstGeom>
        </p:spPr>
      </p:pic>
      <p:pic>
        <p:nvPicPr>
          <p:cNvPr id="36" name="Graphic 35" descr="High voltage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39682" y="3495261"/>
            <a:ext cx="730197" cy="7301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5475538"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How the Search Works</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b="1" dirty="0"/>
              <a:t>One Simulated Annealing step:</a:t>
            </a:r>
            <a:endParaRPr lang="en-US" sz="1900" b="1" dirty="0"/>
          </a:p>
        </p:txBody>
      </p:sp>
      <p:sp>
        <p:nvSpPr>
          <p:cNvPr id="18" name="TextBox 17"/>
          <p:cNvSpPr txBox="1"/>
          <p:nvPr/>
        </p:nvSpPr>
        <p:spPr>
          <a:xfrm>
            <a:off x="758951" y="1856232"/>
            <a:ext cx="8789239" cy="3192669"/>
          </a:xfrm>
          <a:prstGeom prst="rect">
            <a:avLst/>
          </a:prstGeom>
          <a:noFill/>
        </p:spPr>
        <p:txBody>
          <a:bodyPr wrap="square">
            <a:spAutoFit/>
          </a:bodyPr>
          <a:lstStyle/>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Start with a current activation layout.</a:t>
            </a:r>
            <a:endParaRPr lang="en-US" sz="1720" dirty="0">
              <a:solidFill>
                <a:srgbClr val="F5F8FC"/>
              </a:solidFill>
              <a:latin typeface="Aptos"/>
            </a:endParaRPr>
          </a:p>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Make a small change.</a:t>
            </a:r>
            <a:endParaRPr lang="en-US" sz="1720" dirty="0">
              <a:solidFill>
                <a:srgbClr val="F5F8FC"/>
              </a:solidFill>
              <a:latin typeface="Aptos"/>
            </a:endParaRPr>
          </a:p>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Train the candidate layout briefly.</a:t>
            </a:r>
            <a:endParaRPr lang="en-US" sz="1720" dirty="0">
              <a:solidFill>
                <a:srgbClr val="F5F8FC"/>
              </a:solidFill>
              <a:latin typeface="Aptos"/>
            </a:endParaRPr>
          </a:p>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Evaluate it on validation data.</a:t>
            </a:r>
            <a:endParaRPr lang="en-US" sz="1720" dirty="0">
              <a:solidFill>
                <a:srgbClr val="F5F8FC"/>
              </a:solidFill>
              <a:latin typeface="Aptos"/>
            </a:endParaRPr>
          </a:p>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Accept or reject the candidate.</a:t>
            </a:r>
            <a:endParaRPr lang="en-US" sz="1720" dirty="0">
              <a:solidFill>
                <a:srgbClr val="F5F8FC"/>
              </a:solidFill>
              <a:latin typeface="Aptos"/>
            </a:endParaRPr>
          </a:p>
          <a:p>
            <a:pPr marL="342900" indent="-342900">
              <a:spcAft>
                <a:spcPts val="700"/>
              </a:spcAft>
              <a:buFont typeface="+mj-lt"/>
              <a:buAutoNum type="arabicPeriod"/>
              <a:defRPr sz="1300">
                <a:solidFill>
                  <a:srgbClr val="DAE5F3"/>
                </a:solidFill>
                <a:latin typeface="Aptos"/>
              </a:defRPr>
            </a:pPr>
            <a:r>
              <a:rPr lang="en-US" sz="1720" dirty="0">
                <a:solidFill>
                  <a:srgbClr val="F5F8FC"/>
                </a:solidFill>
                <a:latin typeface="Aptos"/>
              </a:rPr>
              <a:t>Reduce the temperature over time.</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Example small change:</a:t>
            </a:r>
            <a:endParaRPr lang="en-US" sz="1720" dirty="0">
              <a:solidFill>
                <a:srgbClr val="F5F8FC"/>
              </a:solidFill>
              <a:latin typeface="Aptos"/>
            </a:endParaRPr>
          </a:p>
          <a:p>
            <a:pPr>
              <a:spcAft>
                <a:spcPts val="700"/>
              </a:spcAft>
              <a:defRPr sz="1300">
                <a:solidFill>
                  <a:srgbClr val="DAE5F3"/>
                </a:solidFill>
                <a:latin typeface="Aptos"/>
              </a:defRPr>
            </a:pP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r>
              <a:rPr lang="en-US" sz="1720" dirty="0">
                <a:solidFill>
                  <a:srgbClr val="F5F8FC"/>
                </a:solidFill>
                <a:latin typeface="Aptos"/>
              </a:rPr>
              <a:t>  →  </a:t>
            </a:r>
            <a:r>
              <a:rPr lang="en-US" sz="1720" dirty="0" err="1">
                <a:solidFill>
                  <a:srgbClr val="F5F8FC"/>
                </a:solidFill>
                <a:latin typeface="Aptos"/>
              </a:rPr>
              <a:t>ReLU</a:t>
            </a:r>
            <a:r>
              <a:rPr lang="en-US" sz="1720" dirty="0">
                <a:solidFill>
                  <a:srgbClr val="F5F8FC"/>
                </a:solidFill>
                <a:latin typeface="Aptos"/>
              </a:rPr>
              <a:t>, tanh, </a:t>
            </a:r>
            <a:r>
              <a:rPr lang="en-US" sz="1720" dirty="0" err="1">
                <a:solidFill>
                  <a:srgbClr val="F5F8FC"/>
                </a:solidFill>
                <a:latin typeface="Aptos"/>
              </a:rPr>
              <a:t>ReLU</a:t>
            </a:r>
            <a:r>
              <a:rPr lang="en-US" sz="1720" dirty="0">
                <a:solidFill>
                  <a:srgbClr val="F5F8FC"/>
                </a:solidFill>
                <a:latin typeface="Aptos"/>
              </a:rPr>
              <a:t>, </a:t>
            </a:r>
            <a:r>
              <a:rPr lang="en-US" sz="1720" dirty="0" err="1">
                <a:solidFill>
                  <a:srgbClr val="F5F8FC"/>
                </a:solidFill>
                <a:latin typeface="Aptos"/>
              </a:rPr>
              <a:t>ReLU</a:t>
            </a:r>
            <a:endParaRPr sz="2000" b="1" dirty="0">
              <a:solidFill>
                <a:srgbClr val="24C4E6"/>
              </a:solidFill>
              <a:latin typeface="Aptos Display"/>
            </a:endParaRPr>
          </a:p>
        </p:txBody>
      </p:sp>
      <p:pic>
        <p:nvPicPr>
          <p:cNvPr id="7" name="Picture 6"/>
          <p:cNvPicPr>
            <a:picLocks noChangeAspect="1"/>
          </p:cNvPicPr>
          <p:nvPr/>
        </p:nvPicPr>
        <p:blipFill>
          <a:blip r:embed="rId1"/>
          <a:stretch>
            <a:fillRect/>
          </a:stretch>
        </p:blipFill>
        <p:spPr>
          <a:xfrm>
            <a:off x="5401057" y="1608671"/>
            <a:ext cx="6031992" cy="3030133"/>
          </a:xfrm>
          <a:prstGeom prst="roundRect">
            <a:avLst>
              <a:gd name="adj" fmla="val 4167"/>
            </a:avLst>
          </a:prstGeom>
          <a:solidFill>
            <a:srgbClr val="FFFFFF"/>
          </a:solidFill>
          <a:ln w="76200" cap="sq">
            <a:solidFill>
              <a:srgbClr val="292929"/>
            </a:solidFill>
            <a:miter lim="800000"/>
            <a:headEnd/>
            <a:tailEnd/>
          </a:ln>
          <a:effectLst>
            <a:reflection blurRad="12700" stA="28000" endPos="28000" dist="5000" dir="5400000" sy="-100000" algn="bl" rotWithShape="0"/>
          </a:effectLst>
          <a:scene3d>
            <a:camera prst="perspectiveContrastingLeftFacing"/>
            <a:lightRig rig="threePt" dir="t">
              <a:rot lat="0" lon="0" rev="2700000"/>
            </a:lightRig>
          </a:scene3d>
          <a:sp3d>
            <a:bevelT h="38100"/>
            <a:contourClr>
              <a:srgbClr val="C0C0C0"/>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4768165"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Benchmark Setup</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b="1" dirty="0"/>
              <a:t>Where do we test the activation layouts?</a:t>
            </a:r>
            <a:endParaRPr lang="en-US" sz="1900" b="1" dirty="0"/>
          </a:p>
        </p:txBody>
      </p:sp>
      <p:sp>
        <p:nvSpPr>
          <p:cNvPr id="18" name="TextBox 17"/>
          <p:cNvSpPr txBox="1"/>
          <p:nvPr/>
        </p:nvSpPr>
        <p:spPr>
          <a:xfrm>
            <a:off x="758951" y="1856232"/>
            <a:ext cx="8789239" cy="3547125"/>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We use benchmarks to test our method in a controlled way.</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Each benchmark defines: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prediction task</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input data</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neural-network topology</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the train / validation / test setup</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For a fair comparison, the benchmark and network structure stay fixed.</a:t>
            </a: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Only the activation-function layout changes.</a:t>
            </a:r>
            <a:endParaRPr sz="1720" dirty="0">
              <a:solidFill>
                <a:srgbClr val="F5F8FC"/>
              </a:solidFill>
              <a:latin typeface="Aptos"/>
            </a:endParaRPr>
          </a:p>
        </p:txBody>
      </p:sp>
      <p:pic>
        <p:nvPicPr>
          <p:cNvPr id="9" name="Picture 8"/>
          <p:cNvPicPr>
            <a:picLocks noChangeAspect="1"/>
          </p:cNvPicPr>
          <p:nvPr/>
        </p:nvPicPr>
        <p:blipFill>
          <a:blip r:embed="rId1"/>
          <a:stretch>
            <a:fillRect/>
          </a:stretch>
        </p:blipFill>
        <p:spPr>
          <a:xfrm>
            <a:off x="6095847" y="1736292"/>
            <a:ext cx="5259474" cy="2859839"/>
          </a:xfrm>
          <a:prstGeom prst="roundRect">
            <a:avLst>
              <a:gd name="adj" fmla="val 4167"/>
            </a:avLst>
          </a:prstGeom>
          <a:solidFill>
            <a:srgbClr val="FFFFFF"/>
          </a:solidFill>
          <a:ln w="76200" cap="sq">
            <a:solidFill>
              <a:srgbClr val="292929"/>
            </a:solidFill>
            <a:miter lim="800000"/>
            <a:headEnd/>
            <a:tailEnd/>
          </a:ln>
          <a:effectLst>
            <a:reflection blurRad="12700" stA="28000" endPos="28000" dist="5000" dir="5400000" sy="-100000" algn="bl" rotWithShape="0"/>
          </a:effectLst>
          <a:scene3d>
            <a:camera prst="perspectiveContrastingLeftFacing"/>
            <a:lightRig rig="threePt" dir="t">
              <a:rot lat="0" lon="0" rev="2700000"/>
            </a:lightRig>
          </a:scene3d>
          <a:sp3d>
            <a:bevelT h="38100"/>
            <a:contourClr>
              <a:srgbClr val="C0C0C0"/>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4317913" cy="507831"/>
          </a:xfrm>
          <a:prstGeom prst="rect">
            <a:avLst/>
          </a:prstGeom>
          <a:noFill/>
        </p:spPr>
        <p:txBody>
          <a:bodyPr wrap="none">
            <a:spAutoFit/>
          </a:bodyPr>
          <a:lstStyle/>
          <a:p>
            <a:pPr>
              <a:defRPr sz="2700" b="1">
                <a:solidFill>
                  <a:srgbClr val="F5F8FC"/>
                </a:solidFill>
                <a:latin typeface="Aptos Display"/>
              </a:defRPr>
            </a:pPr>
            <a:r>
              <a:rPr lang="en-US" dirty="0"/>
              <a:t>Introduction: </a:t>
            </a:r>
            <a:r>
              <a:rPr lang="en-US" sz="2700" b="1" dirty="0"/>
              <a:t>Fair Evaluation</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 y="1426464"/>
            <a:ext cx="8192892" cy="384721"/>
          </a:xfrm>
          <a:prstGeom prst="rect">
            <a:avLst/>
          </a:prstGeom>
          <a:noFill/>
        </p:spPr>
        <p:txBody>
          <a:bodyPr wrap="square">
            <a:spAutoFit/>
          </a:bodyPr>
          <a:lstStyle/>
          <a:p>
            <a:pPr>
              <a:defRPr sz="1500" b="1">
                <a:solidFill>
                  <a:srgbClr val="F5F8FC"/>
                </a:solidFill>
                <a:latin typeface="Aptos"/>
              </a:defRPr>
            </a:pPr>
            <a:r>
              <a:rPr lang="en-US" sz="1900" b="1" dirty="0"/>
              <a:t>How do we compare layouts fairly?</a:t>
            </a:r>
            <a:endParaRPr lang="en-US" sz="1900" b="1" dirty="0"/>
          </a:p>
        </p:txBody>
      </p:sp>
      <p:sp>
        <p:nvSpPr>
          <p:cNvPr id="18" name="TextBox 17"/>
          <p:cNvSpPr txBox="1"/>
          <p:nvPr/>
        </p:nvSpPr>
        <p:spPr>
          <a:xfrm>
            <a:off x="758951" y="1856232"/>
            <a:ext cx="8789239" cy="3901581"/>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To compare layouts fairly, we need identical conditions: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same benchmark</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same network structure</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same train/validation/test split</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same training budget</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same random seeds</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We compare:</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manually chosen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fixed single-activation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Simulated-Annealing-generated layouts</a:t>
            </a:r>
            <a:endParaRPr sz="1720" dirty="0">
              <a:solidFill>
                <a:srgbClr val="F5F8FC"/>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5818581" cy="507831"/>
          </a:xfrm>
          <a:prstGeom prst="rect">
            <a:avLst/>
          </a:prstGeom>
          <a:noFill/>
        </p:spPr>
        <p:txBody>
          <a:bodyPr wrap="none">
            <a:spAutoFit/>
          </a:bodyPr>
          <a:lstStyle/>
          <a:p>
            <a:pPr>
              <a:defRPr sz="2700" b="1">
                <a:solidFill>
                  <a:srgbClr val="F5F8FC"/>
                </a:solidFill>
                <a:latin typeface="Aptos Display"/>
              </a:defRPr>
            </a:pPr>
            <a:r>
              <a:rPr lang="en-US" sz="2700" b="1" dirty="0"/>
              <a:t>Activation Playground Implementation</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5" name="Rounded Rectangle 14"/>
          <p:cNvSpPr/>
          <p:nvPr/>
        </p:nvSpPr>
        <p:spPr>
          <a:xfrm>
            <a:off x="530352" y="1000539"/>
            <a:ext cx="10442448" cy="5061933"/>
          </a:xfrm>
          <a:prstGeom prst="roundRect">
            <a:avLst/>
          </a:prstGeom>
          <a:solidFill>
            <a:srgbClr val="11223A"/>
          </a:solidFill>
          <a:ln w="12700">
            <a:solidFill>
              <a:srgbClr val="2A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4621" y="1312892"/>
            <a:ext cx="9454962" cy="3811813"/>
          </a:xfrm>
          <a:prstGeom prst="rect">
            <a:avLst/>
          </a:prstGeom>
          <a:noFill/>
        </p:spPr>
        <p:txBody>
          <a:bodyPr wrap="square">
            <a:spAutoFit/>
          </a:bodyPr>
          <a:lstStyle/>
          <a:p>
            <a:pPr>
              <a:spcAft>
                <a:spcPts val="700"/>
              </a:spcAft>
              <a:defRPr sz="1300">
                <a:solidFill>
                  <a:srgbClr val="DAE5F3"/>
                </a:solidFill>
                <a:latin typeface="Aptos"/>
              </a:defRPr>
            </a:pPr>
            <a:r>
              <a:rPr lang="en-US" sz="1720" dirty="0">
                <a:solidFill>
                  <a:srgbClr val="F5F8FC"/>
                </a:solidFill>
                <a:latin typeface="Aptos"/>
              </a:rPr>
              <a:t>We designed an activation playground: a small experimental tool for understanding and testing activation-function layouts.</a:t>
            </a:r>
            <a:endParaRPr lang="en-US" sz="1720" dirty="0">
              <a:solidFill>
                <a:srgbClr val="F5F8FC"/>
              </a:solidFill>
              <a:latin typeface="Aptos"/>
            </a:endParaRPr>
          </a:p>
          <a:p>
            <a:pPr>
              <a:spcAft>
                <a:spcPts val="700"/>
              </a:spcAft>
              <a:defRPr sz="1300">
                <a:solidFill>
                  <a:srgbClr val="DAE5F3"/>
                </a:solidFill>
                <a:latin typeface="Aptos"/>
              </a:defRPr>
            </a:pPr>
            <a:endParaRPr lang="en-US" sz="1720" dirty="0">
              <a:solidFill>
                <a:srgbClr val="F5F8FC"/>
              </a:solidFill>
              <a:latin typeface="Aptos"/>
            </a:endParaRPr>
          </a:p>
          <a:p>
            <a:pPr>
              <a:spcAft>
                <a:spcPts val="700"/>
              </a:spcAft>
              <a:defRPr sz="1300">
                <a:solidFill>
                  <a:srgbClr val="DAE5F3"/>
                </a:solidFill>
                <a:latin typeface="Aptos"/>
              </a:defRPr>
            </a:pPr>
            <a:r>
              <a:rPr lang="en-US" sz="1720" dirty="0">
                <a:solidFill>
                  <a:srgbClr val="F5F8FC"/>
                </a:solidFill>
                <a:latin typeface="Aptos"/>
              </a:rPr>
              <a:t>It currently allows us to:</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choose a benchmark, such as wine or </a:t>
            </a:r>
            <a:r>
              <a:rPr lang="en-US" sz="1720" dirty="0" err="1">
                <a:solidFill>
                  <a:srgbClr val="F5F8FC"/>
                </a:solidFill>
                <a:latin typeface="Aptos"/>
              </a:rPr>
              <a:t>breast_cancer</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define the hidden-layer structure, for example 16, 8</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assign activation functions per layer or per neuron</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inspect how one sample moves through the network</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run Simulated Annealing over activation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compare start, current, candidate, and best layouts</a:t>
            </a:r>
            <a:endParaRPr lang="en-US" sz="1720" dirty="0">
              <a:solidFill>
                <a:srgbClr val="F5F8FC"/>
              </a:solidFill>
              <a:latin typeface="Aptos"/>
            </a:endParaRPr>
          </a:p>
          <a:p>
            <a:pPr marL="285750" indent="-285750">
              <a:spcAft>
                <a:spcPts val="700"/>
              </a:spcAft>
              <a:buFont typeface="Arial" panose="020B0604020202020204" pitchFamily="34" charset="0"/>
              <a:buChar char="•"/>
              <a:defRPr sz="1300">
                <a:solidFill>
                  <a:srgbClr val="DAE5F3"/>
                </a:solidFill>
                <a:latin typeface="Aptos"/>
              </a:defRPr>
            </a:pPr>
            <a:r>
              <a:rPr lang="en-US" sz="1720" dirty="0">
                <a:solidFill>
                  <a:srgbClr val="F5F8FC"/>
                </a:solidFill>
                <a:latin typeface="Aptos"/>
              </a:rPr>
              <a:t>observe validation score, acceptance rate, and temperature</a:t>
            </a:r>
            <a:endParaRPr lang="en-US" sz="1720" dirty="0">
              <a:solidFill>
                <a:srgbClr val="F5F8FC"/>
              </a:solidFill>
              <a:latin typeface="Aptos"/>
            </a:endParaRPr>
          </a:p>
        </p:txBody>
      </p:sp>
      <p:pic>
        <p:nvPicPr>
          <p:cNvPr id="7" name="Picture 6"/>
          <p:cNvPicPr>
            <a:picLocks noChangeAspect="1"/>
          </p:cNvPicPr>
          <p:nvPr/>
        </p:nvPicPr>
        <p:blipFill>
          <a:blip r:embed="rId1"/>
          <a:stretch>
            <a:fillRect/>
          </a:stretch>
        </p:blipFill>
        <p:spPr>
          <a:xfrm>
            <a:off x="6650446" y="2255913"/>
            <a:ext cx="5099594" cy="3221120"/>
          </a:xfrm>
          <a:prstGeom prst="roundRect">
            <a:avLst>
              <a:gd name="adj" fmla="val 4167"/>
            </a:avLst>
          </a:prstGeom>
          <a:solidFill>
            <a:srgbClr val="FFFFFF"/>
          </a:solidFill>
          <a:ln w="76200" cap="sq">
            <a:solidFill>
              <a:srgbClr val="292929"/>
            </a:solidFill>
            <a:miter lim="800000"/>
            <a:headEnd/>
            <a:tailEnd/>
          </a:ln>
          <a:effectLst>
            <a:reflection blurRad="12700" stA="28000" endPos="28000" dist="5000" dir="5400000" sy="-100000" algn="bl" rotWithShape="0"/>
          </a:effectLst>
          <a:scene3d>
            <a:camera prst="perspectiveContrastingLeftFacing"/>
            <a:lightRig rig="threePt" dir="t">
              <a:rot lat="0" lon="0" rev="2700000"/>
            </a:lightRig>
          </a:scene3d>
          <a:sp3d>
            <a:bevelT h="38100"/>
            <a:contourClr>
              <a:srgbClr val="C0C0C0"/>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4C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10698480" y="73152"/>
            <a:ext cx="1490472" cy="1490472"/>
          </a:xfrm>
          <a:prstGeom prst="rtTriangle">
            <a:avLst/>
          </a:prstGeom>
          <a:solidFill>
            <a:srgbClr val="12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2642" y="1426596"/>
            <a:ext cx="1684948" cy="507831"/>
          </a:xfrm>
          <a:prstGeom prst="rect">
            <a:avLst/>
          </a:prstGeom>
          <a:noFill/>
        </p:spPr>
        <p:txBody>
          <a:bodyPr wrap="none">
            <a:spAutoFit/>
          </a:bodyPr>
          <a:lstStyle/>
          <a:p>
            <a:pPr>
              <a:defRPr sz="2700" b="1">
                <a:solidFill>
                  <a:srgbClr val="F5F8FC"/>
                </a:solidFill>
                <a:latin typeface="Aptos Display"/>
              </a:defRPr>
            </a:pPr>
            <a:r>
              <a:rPr lang="en-US" dirty="0"/>
              <a:t>Thank You</a:t>
            </a:r>
            <a:endParaRPr dirty="0"/>
          </a:p>
        </p:txBody>
      </p:sp>
      <p:sp>
        <p:nvSpPr>
          <p:cNvPr id="6" name="TextBox 5"/>
          <p:cNvSpPr txBox="1"/>
          <p:nvPr/>
        </p:nvSpPr>
        <p:spPr>
          <a:xfrm>
            <a:off x="10469880" y="6473952"/>
            <a:ext cx="1280160" cy="228600"/>
          </a:xfrm>
          <a:prstGeom prst="rect">
            <a:avLst/>
          </a:prstGeom>
          <a:noFill/>
        </p:spPr>
        <p:txBody>
          <a:bodyPr wrap="none">
            <a:spAutoFit/>
          </a:bodyPr>
          <a:lstStyle/>
          <a:p>
            <a:pPr algn="r">
              <a:defRPr sz="1000">
                <a:solidFill>
                  <a:srgbClr val="A9B7CB"/>
                </a:solidFill>
                <a:latin typeface="Aptos"/>
              </a:defRPr>
            </a:pPr>
            <a:r>
              <a:t>Task 2 · 10</a:t>
            </a:r>
          </a:p>
        </p:txBody>
      </p:sp>
      <p:sp>
        <p:nvSpPr>
          <p:cNvPr id="16" name="Rectangle 15"/>
          <p:cNvSpPr/>
          <p:nvPr/>
        </p:nvSpPr>
        <p:spPr>
          <a:xfrm>
            <a:off x="530352" y="1261872"/>
            <a:ext cx="64008" cy="48006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6324</Words>
  <Application>WPS Presentation</Application>
  <PresentationFormat>Widescreen</PresentationFormat>
  <Paragraphs>239</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Aptos</vt:lpstr>
      <vt:lpstr>Segoe UI</vt:lpstr>
      <vt:lpstr>Aptos Display</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Negar</dc:creator>
  <dc:description>generated using python-pptx</dc:description>
  <cp:lastModifiedBy>ziri moula</cp:lastModifiedBy>
  <cp:revision>5</cp:revision>
  <dcterms:created xsi:type="dcterms:W3CDTF">2013-01-27T09:14:00Z</dcterms:created>
  <dcterms:modified xsi:type="dcterms:W3CDTF">2026-05-11T16:37:33Z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DA452EB70B184B9E9DD0BD769A7CF67A_13</vt:lpwstr>
  </property>
  <property fmtid="{D5CDD505-2E9C-101B-9397-08002B2CF9AE}" pid="3" name="KSOProductBuildVer">
    <vt:lpwstr>1036-12.2.0.23196</vt:lpwstr>
  </property>
</Properties>
</file>