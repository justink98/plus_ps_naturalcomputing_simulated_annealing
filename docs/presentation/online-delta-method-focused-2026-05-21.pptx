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45f6852f54e64" /><Relationship Type="http://schemas.openxmlformats.org/officeDocument/2006/relationships/extended-properties" Target="/docProps/app.xml" Id="Re9f2b9fefaa54a05" /><Relationship Type="http://schemas.openxmlformats.org/officeDocument/2006/relationships/officeDocument" Target="/ppt/presentation.xml" Id="Re122a112192a43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933bf6fd2f465b"/>
  </p:sldMasterIdLst>
  <p:notesMasterIdLst>
    <p:notesMasterId xmlns:r="http://schemas.openxmlformats.org/officeDocument/2006/relationships" r:id="Re317d604ce614aa1"/>
  </p:notesMasterIdLst>
  <p:sldIdLst>
    <p:sldId xmlns:r="http://schemas.openxmlformats.org/officeDocument/2006/relationships" id="256" r:id="R067ac419b69b4ba9"/>
    <p:sldId xmlns:r="http://schemas.openxmlformats.org/officeDocument/2006/relationships" id="257" r:id="R828711fb4dc84ca0"/>
    <p:sldId xmlns:r="http://schemas.openxmlformats.org/officeDocument/2006/relationships" id="258" r:id="R6e54941442fe45c5"/>
    <p:sldId xmlns:r="http://schemas.openxmlformats.org/officeDocument/2006/relationships" id="259" r:id="Rea10fcc531134683"/>
    <p:sldId xmlns:r="http://schemas.openxmlformats.org/officeDocument/2006/relationships" id="260" r:id="Raec37fbca093431c"/>
    <p:sldId xmlns:r="http://schemas.openxmlformats.org/officeDocument/2006/relationships" id="261" r:id="R2589e5ecfa2546d8"/>
    <p:sldId xmlns:r="http://schemas.openxmlformats.org/officeDocument/2006/relationships" id="262" r:id="R41f23874910746ee"/>
    <p:sldId xmlns:r="http://schemas.openxmlformats.org/officeDocument/2006/relationships" id="263" r:id="R3554657c144144d0"/>
    <p:sldId xmlns:r="http://schemas.openxmlformats.org/officeDocument/2006/relationships" id="264" r:id="Re9b33c7f1d1e4a79"/>
    <p:sldId xmlns:r="http://schemas.openxmlformats.org/officeDocument/2006/relationships" id="265" r:id="R95998ce4513448c7"/>
    <p:sldId xmlns:r="http://schemas.openxmlformats.org/officeDocument/2006/relationships" id="266" r:id="R6eb8ee118a034575"/>
    <p:sldId xmlns:r="http://schemas.openxmlformats.org/officeDocument/2006/relationships" id="267" r:id="R2f1bc2851ad945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33bf6fd2f465b" /><Relationship Type="http://schemas.openxmlformats.org/officeDocument/2006/relationships/theme" Target="/ppt/theme/theme1.xml" Id="R65f54154973041a1" /><Relationship Type="http://schemas.openxmlformats.org/officeDocument/2006/relationships/notesMaster" Target="/ppt/notesMasters/notesMaster1.xml" Id="Re317d604ce614aa1" /><Relationship Type="http://schemas.openxmlformats.org/officeDocument/2006/relationships/presProps" Target="/ppt/presProps.xml" Id="Rebcbad3a7a4641c5" /><Relationship Type="http://schemas.openxmlformats.org/officeDocument/2006/relationships/viewProps" Target="/ppt/viewProps.xml" Id="R3e4a2e515da940a6" /><Relationship Type="http://schemas.openxmlformats.org/officeDocument/2006/relationships/tableStyles" Target="/ppt/tableStyles.xml" Id="R302e4d71e24b411d" /><Relationship Type="http://schemas.openxmlformats.org/officeDocument/2006/relationships/slide" Target="/ppt/slides/slide1.xml" Id="R067ac419b69b4ba9" /><Relationship Type="http://schemas.openxmlformats.org/officeDocument/2006/relationships/slide" Target="/ppt/slides/slide2.xml" Id="R828711fb4dc84ca0" /><Relationship Type="http://schemas.openxmlformats.org/officeDocument/2006/relationships/slide" Target="/ppt/slides/slide3.xml" Id="R6e54941442fe45c5" /><Relationship Type="http://schemas.openxmlformats.org/officeDocument/2006/relationships/slide" Target="/ppt/slides/slide4.xml" Id="Rea10fcc531134683" /><Relationship Type="http://schemas.openxmlformats.org/officeDocument/2006/relationships/slide" Target="/ppt/slides/slide5.xml" Id="Raec37fbca093431c" /><Relationship Type="http://schemas.openxmlformats.org/officeDocument/2006/relationships/slide" Target="/ppt/slides/slide6.xml" Id="R2589e5ecfa2546d8" /><Relationship Type="http://schemas.openxmlformats.org/officeDocument/2006/relationships/slide" Target="/ppt/slides/slide7.xml" Id="R41f23874910746ee" /><Relationship Type="http://schemas.openxmlformats.org/officeDocument/2006/relationships/slide" Target="/ppt/slides/slide8.xml" Id="R3554657c144144d0" /><Relationship Type="http://schemas.openxmlformats.org/officeDocument/2006/relationships/slide" Target="/ppt/slides/slide9.xml" Id="Re9b33c7f1d1e4a79" /><Relationship Type="http://schemas.openxmlformats.org/officeDocument/2006/relationships/slide" Target="/ppt/slides/slide10.xml" Id="R95998ce4513448c7" /><Relationship Type="http://schemas.openxmlformats.org/officeDocument/2006/relationships/slide" Target="/ppt/slides/slide11.xml" Id="R6eb8ee118a034575" /><Relationship Type="http://schemas.openxmlformats.org/officeDocument/2006/relationships/slide" Target="/ppt/slides/slide12.xml" Id="R2f1bc2851ad945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f09b60c90e49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417108f91e44bb" /><Relationship Type="http://schemas.openxmlformats.org/officeDocument/2006/relationships/notesMaster" Target="/ppt/notesMasters/notesMaster1.xml" Id="R84eec4c6e85945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b5c57413244819" /><Relationship Type="http://schemas.openxmlformats.org/officeDocument/2006/relationships/notesMaster" Target="/ppt/notesMasters/notesMaster1.xml" Id="R1fe6754f89b04c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aa42a862004438" /><Relationship Type="http://schemas.openxmlformats.org/officeDocument/2006/relationships/notesMaster" Target="/ppt/notesMasters/notesMaster1.xml" Id="R3d3b9bde3e144e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b7ac75418748f3" /><Relationship Type="http://schemas.openxmlformats.org/officeDocument/2006/relationships/notesMaster" Target="/ppt/notesMasters/notesMaster1.xml" Id="Rb93f55b7db01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7d5c426f9f44d3" /><Relationship Type="http://schemas.openxmlformats.org/officeDocument/2006/relationships/notesMaster" Target="/ppt/notesMasters/notesMaster1.xml" Id="R80713d8a05754e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12b7c3aa0842b0" /><Relationship Type="http://schemas.openxmlformats.org/officeDocument/2006/relationships/notesMaster" Target="/ppt/notesMasters/notesMaster1.xml" Id="R1ff059fee618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13a31295784c55" /><Relationship Type="http://schemas.openxmlformats.org/officeDocument/2006/relationships/notesMaster" Target="/ppt/notesMasters/notesMaster1.xml" Id="Rf92e35b84210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d498cd38704462" /><Relationship Type="http://schemas.openxmlformats.org/officeDocument/2006/relationships/notesMaster" Target="/ppt/notesMasters/notesMaster1.xml" Id="R6d55521342904a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e3485761e84473" /><Relationship Type="http://schemas.openxmlformats.org/officeDocument/2006/relationships/notesMaster" Target="/ppt/notesMasters/notesMaster1.xml" Id="R1a528e31b4c44f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59ab4babc842f6" /><Relationship Type="http://schemas.openxmlformats.org/officeDocument/2006/relationships/notesMaster" Target="/ppt/notesMasters/notesMaster1.xml" Id="R0d6f7f69c4394f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761f130266465a" /><Relationship Type="http://schemas.openxmlformats.org/officeDocument/2006/relationships/notesMaster" Target="/ppt/notesMasters/notesMaster1.xml" Id="R26ba5deb0a774c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ceabeba503499d" /><Relationship Type="http://schemas.openxmlformats.org/officeDocument/2006/relationships/notesMaster" Target="/ppt/notesMasters/notesMaster1.xml" Id="R39f4363a92824a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04d06418744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c17f2cfcb01445e" /><Relationship Type="http://schemas.openxmlformats.org/officeDocument/2006/relationships/slideLayout" Target="/ppt/slideLayouts/slideLayout2.xml" Id="R5f9d80ee3f4f4a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9d80ee3f4f4a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6444356e3146e7" /><Relationship Type="http://schemas.openxmlformats.org/officeDocument/2006/relationships/notesSlide" Target="/ppt/notesSlides/notesSlide1.xml" Id="R0463ea645d5347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8e888db27413c" /><Relationship Type="http://schemas.openxmlformats.org/officeDocument/2006/relationships/notesSlide" Target="/ppt/notesSlides/notesSlide2.xml" Id="Refc405552ee54c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8df3165b04035" /><Relationship Type="http://schemas.openxmlformats.org/officeDocument/2006/relationships/notesSlide" Target="/ppt/notesSlides/notesSlide3.xml" Id="R8354028271fe4b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106e02a9604dac" /><Relationship Type="http://schemas.openxmlformats.org/officeDocument/2006/relationships/notesSlide" Target="/ppt/notesSlides/notesSlide4.xml" Id="Ra5e7b8f9b4a148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7ea40d39b847f3" /><Relationship Type="http://schemas.openxmlformats.org/officeDocument/2006/relationships/notesSlide" Target="/ppt/notesSlides/notesSlide5.xml" Id="R0d41b01f08bd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4e9727bfc240b3" /><Relationship Type="http://schemas.openxmlformats.org/officeDocument/2006/relationships/notesSlide" Target="/ppt/notesSlides/notesSlide6.xml" Id="R9675410a23bb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fd84939acd4b07" /><Relationship Type="http://schemas.openxmlformats.org/officeDocument/2006/relationships/notesSlide" Target="/ppt/notesSlides/notesSlide7.xml" Id="Ra60e98cd1c4c43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3c2934de0349c2" /><Relationship Type="http://schemas.openxmlformats.org/officeDocument/2006/relationships/notesSlide" Target="/ppt/notesSlides/notesSlide8.xml" Id="R80eecab11dcc476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1f3c58e6094e95" /><Relationship Type="http://schemas.openxmlformats.org/officeDocument/2006/relationships/notesSlide" Target="/ppt/notesSlides/notesSlide9.xml" Id="R08a692090cbd4c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064bc3e2044057" /><Relationship Type="http://schemas.openxmlformats.org/officeDocument/2006/relationships/notesSlide" Target="/ppt/notesSlides/notesSlide10.xml" Id="Rd9a8790ae69f4c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ddf0844137476b" /><Relationship Type="http://schemas.openxmlformats.org/officeDocument/2006/relationships/notesSlide" Target="/ppt/notesSlides/notesSlide11.xml" Id="R2fc858dd55d74b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deec1dfddd49d9" /><Relationship Type="http://schemas.openxmlformats.org/officeDocument/2006/relationships/notesSlide" Target="/ppt/notesSlides/notesSlide12.xml" Id="Rbe527bbe394b4d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71ECD2-22F9-4665-923B-6B147B1B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F08BD-0076-40DE-B3CF-6A3ACDF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924B2-8C1A-4989-AAD9-F5BC2581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 LAYOUT SEARCH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E3F53-3D57-4EEF-BCB5-11ACC20F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38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77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Activation Function Layouts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5906B-C76A-4FAB-8126-96BF115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28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Simulated Annealing searches the activation assignments; gradient descent trains the weights.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E636D-80D5-4BBA-99F0-00163873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9906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Fixed topology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109E9-B9CA-4985-94F3-9396BFE6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1458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649F1-26AF-4D02-833D-F3396C38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0033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FC17E-A6CB-412D-A18C-006F2EDF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55733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1A430-E4CB-419E-8D4A-BDAE7CC4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308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7A7B2-EA59-4CCA-92A9-B96689F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2883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84F46C-E0C6-46EB-A4C1-1B0A3C1B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1458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C14B5-D2F2-4452-84D5-714AE26E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0033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2548F-41FB-4950-BF68-209B15E2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98608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9D48EE-EFF9-4A90-859E-2F36233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27183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B635F-37DA-48DA-8685-715BF049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57588"/>
            <a:ext cx="126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8D4"/>
          </a:solidFill>
          <a:ln xmlns:a="http://schemas.openxmlformats.org/drawingml/2006/main" w="0">
            <a:solidFill>
              <a:srgbClr val="B9C8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B978B-4926-4094-98FC-77161217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8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EA785-F0FB-4E6F-BF86-10F173D6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8E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15308-4662-4CFD-BC18-F808CFAE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7433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4C0EBB-7C9A-4752-84E9-4D76333C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17E27E-8CA7-4EE9-AE35-C393FB40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E3C7D-C98C-4318-89C4-34196B55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478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58FF39-C48C-4274-972C-6427674D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373F9D-1D3B-4C9F-A862-EE1DC69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93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A9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9EFE2-F858-4251-B41D-1ED8D08A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D6EA3-5F55-451C-9A40-7E5B82B6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8FEF3-441C-4D7E-A2D7-9757D33E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4F44D9-8CDC-46B3-A8BB-68C3C94B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hidden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0C6237-1D9C-4912-BDF5-E59FD704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CF227-6D48-44DA-A6B7-CD703276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74332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465283-C07D-428E-820E-EF880564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542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64AF88-C1FC-496B-960D-E552B65C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What is optimized?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B300A-6B39-48E6-9757-CD17EF99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61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Weights: continuous parameters learned by gradient descent.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936CBA-B7EC-46E3-B599-3B63FC8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619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Layout: discrete activation choices searched by SA.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E26D4F-E77D-4D9D-BB66-75FD62BB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Layout vector for one hidden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912AF-B24F-4B99-8E1C-2613FB68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FB07A9-8336-4C66-8657-54E6775B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450159-1F63-4835-8A17-D45C56D0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6F1581-8953-4477-92CA-51AA9020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B9A2C9-E7E8-4C18-A96D-B6B8B0F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2249E4-C3E1-4401-9991-5957590A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B99FD59-A281-4DA8-8185-5662D13D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1778A3-25D6-44B1-B677-A9876433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CB12108-24F7-4FD8-802A-1075DB5F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AE27AE-BFD5-4BE6-9BD1-C5BCE1AF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4B3EA6-28F0-4DFF-99A4-75F586A7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A4E6E6-A531-43AD-AEF2-CB5F2D51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04BF6E-58D8-46A3-AFCB-1F7EC039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CE6BE3-FA57-49A8-96B1-0C05AA0B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DC09B5-4B3B-49B5-AF2A-5A5C2866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438650"/>
            <a:ext cx="4857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782780-B99B-4A08-82D8-CDBBFC30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5624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3BC4AAB-5B63-478D-8D7A-A72D3DDD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A917C7-9015-404C-8DC5-D0D801D2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124450"/>
            <a:ext cx="3848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search object = activation assignment per hidden neuron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BBF09E-941B-4CA7-A6BD-E85C4FA7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7447D5-134F-433B-9E91-89CEDD68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relu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09E547-16A5-4761-BA96-B21CE7C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0">
            <a:solidFill>
              <a:srgbClr val="7C5CC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A9C164-B9E5-4D22-A3BB-72C44BA7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857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gelu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1F223E-BACF-4DCC-A392-767E26FA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905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B"/>
          </a:solidFill>
          <a:ln xmlns:a="http://schemas.openxmlformats.org/drawingml/2006/main" w="0">
            <a:solidFill>
              <a:srgbClr val="E1A93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5B2AA2-8794-4C74-83BA-8E61C035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577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sigmoid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C3D469D-48FF-42D5-86B8-2C78166D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12D7C52-1796-43CE-9481-CB09319E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tanh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66608C-93D4-4A6D-90C3-641EBF72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3AF622-EFE1-480F-8E2E-AC9A27C0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81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swish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BC76138-331E-4DBE-91BF-CFFA6CE8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29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E7BA61-4498-4AB2-8139-732FF60E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816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7F2C4D-3B3A-42BC-9114-507E0830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B01E1BB-3B9E-4388-881E-732F05FD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1D51584-78F7-4CF1-A1BA-18C17393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2763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1B02DF-6A00-4850-80E4-7B5D2227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DFE01-1169-433B-A196-5A2BD99D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DE8341-4FEF-4A15-9F79-8A387669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INITIAL CANDIDATE SCORING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D806C1-02C3-4BEA-A2DD-D65DFB0F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52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Short-Retrain Scores a Candidate After a Small Training Run.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A9BA5-030E-494C-99FD-7CF0069E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This path is intuitive: generate a layout, train it briefly, then score it on validation loss.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6D608-4624-4244-AC22-AED3C161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CCFCE-88F6-459A-A66D-C780A11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61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D6254-23AC-4924-9431-F1CDEF46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6A474-771B-4A90-AC91-27125304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Candidate layout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AEA5CB-F43F-4461-A049-8D3D164D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765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 local operation changes the activation assignment.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33BFB7-9540-4C5E-BA05-6055EEF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59C69-DCDB-4A5F-860E-9274A2428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480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5AC2A-4EF6-461F-877B-AA3FFAFB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9B8A5-21D6-419F-B526-91FF8867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361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78900-6B50-40D0-853A-9E2D7EF8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E24C8-8AB9-42C9-9D19-328349B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19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Short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08694-F0B2-4F58-8F98-7E2B50E7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765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Train a fresh or candidate model for a small budget.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1380A4-7591-403C-975D-37B2C3C4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81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31820-37E1-475B-BD49-14F3F808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480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E3F447-05FE-44AE-86AA-A0BEA2D8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B980B8-C001-40B6-85B6-912C77CF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361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34188-E0E4-4E8F-8BFA-265876B1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058D6-28FA-4B87-B6D5-BBA7BB88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Validation score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341457-32C2-46C9-89F4-6062AB33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765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Use the resulting validation loss as the SA objective.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3847E-E241-430F-AC1F-0C0440DB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813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BC0A98-9CAF-43A1-BC83-812E3219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480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0E641F-33FF-410F-B2BA-E7C031F8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B732DA-DB53-4661-A6DE-3A3FC9C4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67000"/>
            <a:ext cx="361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0C8EA-FDCC-4180-84DB-18E8797C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861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02ECDF-C3A6-4F65-9FD8-84F5F58A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194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SA decision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AC711F-CE00-4D1F-BE74-12E0036A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076575"/>
            <a:ext cx="1466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Accept or reject based on this score.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746A16-020E-4D91-86DB-C54C7664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76750"/>
            <a:ext cx="5476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3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05C932-7BF5-4EC5-9A59-4BC057AD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52950"/>
            <a:ext cx="53244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candidate score = validation loss after short training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C25886-07EE-4122-96F3-EDED7BC9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674C97-7CA1-4FE8-8D07-5E028297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3DE0EA-BAA1-429E-903C-10734933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6146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CB4DD-9FB2-43E5-A6BC-5CA7BCAF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F5755-7A36-4DF3-9A52-4445F1D3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8EAFF-3D8E-48C4-990A-36FF4E37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WHY REFINE THE SCORING METHOD?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24CBD-B990-4DBC-A83E-C9316956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23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Short Training Mixes Layout Quality With Training Noise.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B109B-5CE1-4C78-8E36-682D65C4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 candidate can look good or bad for reasons that are not caused by the activation layout itself.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862141-FC01-4B23-8571-F6777AFA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6C3DB-48C8-4793-BA00-145F55BB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43175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candidate score = layout effect + training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EA03B-02DC-4FAB-9D8D-607466DD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7639C-FD16-440E-8315-4B9603F8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576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Random 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9FEBA-9879-4820-ACE2-C43E27E4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 fresh initialization can dominate the score when the training budget is short.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DCFF9-A9F8-41C4-BAF8-C9BAE8DC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18DEA-A90F-42EC-9D89-F01D078A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576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Mini-batch sample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6E4A6-71DB-4B43-B584-0947B681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719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 small batch may favour or punish a candidate by chance.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1C65A2-3587-4537-B64B-94AF024F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38A218-FAD1-4F69-9E8D-704A6634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576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Training duration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8957B-3319-4046-81FE-6CD4DD24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Too few updates may not integrate useful activation changes.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B61AC-8764-4643-A9F7-9415CDDC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147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51B63-4624-4FDF-809C-603AA999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857625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Optimizer noise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19D2B-78FE-4413-B6C0-1BF8F8F0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Measured improvement can reflect a lucky gradient step.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D42B5-781E-4CE8-992C-E69EC0FF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34000"/>
            <a:ext cx="704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46067-4B49-49C5-B327-18A1287F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57825"/>
            <a:ext cx="666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The next method keeps the comparison controlled: same weights, same mini-batch, only the layout changes.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9F0A7-F2D9-4628-8A97-A8F4DFC5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E6881-A810-4667-B2C8-8292900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6118F-6E4E-42E6-BC0C-7242528A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92721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E8782-D0CB-4DB1-B011-E6A92E7B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48E17-0E63-41D1-A540-2662A580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0C600-FAA6-4FED-BAEC-ED5A1961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ONLINE-DELTA CORE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51CB0-8D5F-42BA-B64E-DE6F1C93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81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Online-Delta Changes Only the Layout During Candidate Evaluation.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3F23D-7507-4A7E-A3BA-C5F0375C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Weights and mini-batch stay fixed, so the loss difference isolates the immediate effect of the AF change.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CCAD7-3F7C-4B38-8A34-659C6577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3456B-D437-4818-81B1-A047251C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36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8A7B6E-FB28-4679-9BA5-3FEF09C5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08DAF-D167-44B2-9F05-38728ECF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717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Same weights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EE405-E804-4E61-8601-7DDF2DEE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Use the current inherited network state.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09DE3-9F86-4456-8FBB-39DD999B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E8CFB-D0AD-438C-9591-C8E3288D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2E67C-23FB-4BA1-B13D-7CE22341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2E2B3-3533-496C-B45F-13B2D908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36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F1C362-0A5B-4AB3-9A06-3E738EC6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5028D-D005-460D-BF0D-0DF1045C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717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Same mini-batch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43FF4-4462-4F97-A319-575249B2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Evaluate both layouts on identical examples.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47AD0B-9CBF-4E55-83C8-E0CD2ED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05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6367D6-CB39-4288-9F53-22246578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718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65A70-55B7-46EE-9B5E-FDFE8453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1937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101A7-5775-430F-98D4-F4C086E2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19375"/>
            <a:ext cx="36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57F09-D94F-4E45-9A0B-5DFBD2C0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8C0989-ECCC-46A4-A37F-03CA1FD6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717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Change layout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1EB6C1-8303-4AB3-96FA-FD558871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289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Apply the candidate activation assignment.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CFBF14-B6A7-4759-AD82-64C33D3C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6A8F21-24CA-4543-9F58-F5D79A1B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718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C14DC7-EFE6-470C-94FC-1E809924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19375"/>
            <a:ext cx="2095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07F12D-AA96-4D1A-9B6E-6D314E44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19375"/>
            <a:ext cx="361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A88E10-606A-4E11-AB48-1E319FF0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99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FDFE11-17B0-4675-ACA9-FF603994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717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Measure delta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0E1E8-5374-4C24-8AD4-AE92C9BE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28950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Loss after minus loss before.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69AB5-B32A-4A1E-9327-D610B7A8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481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Current layout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37FFEE-0371-4855-82A4-3A70ECD1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529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F8AFF7-4A1E-4EF5-9B44-680DBB1B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767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A5740A-A458-487F-A69E-21475B21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529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6843BF-C29F-4133-8D03-836F785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767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27FF84-C91A-4DA2-B0F2-C47163D8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529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2E9871-6A3D-4318-80FF-36009AB1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767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946B8B-2A10-4175-9296-824E73FC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529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4AB20A-207A-4589-93EF-E155366C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767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FFEA15-9AA1-457F-B83B-16910DB3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529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E62AAC-B5C1-4ED2-B11D-A5C38A32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2767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1C91E0-2CD3-466A-9A24-4DBAA0B8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529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EB5866-A9CE-455E-8397-0D3DA91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1E9CE4-431B-4895-8213-F65E4F9F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5775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Candidate layout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4D50E7-6EAA-4392-ADBC-8CD2A3CF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728F14-4F65-448D-B353-457FAE3E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863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44462A-F2B8-4A51-A981-8436662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62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9A2008-984A-4DEA-97B9-1A9EE937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863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9ADD4C-79FE-4753-895C-F388FC56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62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F30888D-DC82-4614-9FCD-DE88D04E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863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540012-1D77-4A7D-B320-959EAA08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62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9C3655B-2692-4D7B-B609-38CBB90D2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863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9573F1-F36F-4C42-95D5-CC3B4FCE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62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CE5FFB-1C45-4FED-AE92-86A7DEF1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8863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B9276E-47CD-41CA-A5A1-0EE583B7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52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86C0F5-667E-41E7-B55E-6D91E71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86325"/>
            <a:ext cx="552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A998B3C-D6EB-4A3B-81C1-CE5BBA13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3714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4327B1-44EC-483B-9342-2895112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67250"/>
            <a:ext cx="3562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only one AF assignment changed; weights are not reinitialized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19A8B5-D85F-4330-B6FE-1367AB53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573BB81-2658-4F04-9090-B0CF44D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A7EE63-AEB8-417E-A52C-B4C46957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463432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BCF3B-F657-44BB-96C3-999C916D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D5286-8836-4BEE-89D6-97C96914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46CFB-AF21-46FE-8C65-6F057992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ONE ONLINE-DELTA STEP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7A173-66D9-4789-B0F1-98183E45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The Candidate Is Judged by a Controlled Loss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804AE-BDF6-4D89-A5A0-5A384A42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The same batch and same weights make the before/after comparison meaningful.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596F6-BEF6-4D97-A9AE-C699A4E8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BE81B-1441-4832-A292-96B51E76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24125"/>
            <a:ext cx="361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8621C-3C14-4E9B-A494-564F7516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9888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B69CF5-D0AD-474E-A122-080D6E15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Current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9B16B-16A3-4E80-8791-C7446E9D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337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loss(current layout, same weights, same mini-batch)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151B6-D0DC-4DF0-8E43-99E183CD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099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6791D-7A2C-4047-B777-7ECD8E97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765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C3909-6D0F-4284-82A3-45E28F54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2412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C1840-054A-4622-BFD8-9F88070A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24125"/>
            <a:ext cx="361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1E1AC-C247-443F-AE40-FBE6E26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09888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2D18AE-63AD-4755-911D-D7B402B5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7652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Candidate loss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9C56C-5907-487A-818A-C85EA8DE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loss(candidate layout, same weights, same mini-batch)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F4686-7F07-4741-9B9A-4D2D0C3F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99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AD2946-2D85-480C-AE76-06039DE9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8765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8120A-B8D5-45F1-91F3-E0B4A48D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2476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DF5B1A-5335-4807-92FC-84DA2FE4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361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6FF31-B8C3-41C5-8930-A37CE50C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9888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98C13-00E7-4177-AC4F-E7E8EB4B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76525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Loss delta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E26DD8-BB6E-4FFE-99D8-A27C7F31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33700"/>
            <a:ext cx="18478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candidate loss minus current loss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40E1F-5C3F-4ED3-AEC8-27DDF23F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CC066-296B-4E08-BAC6-7C400704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52925"/>
            <a:ext cx="685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Δ = loss(candidate) − loss(current)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A68A5-77B4-4707-A6A9-47C2D31D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14950"/>
            <a:ext cx="8191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97315C-98DD-4B02-AD5C-AB824BF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48300"/>
            <a:ext cx="773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Δ ≤ 0 means the candidate is better or equal on this mini-batch. Δ &gt; 0 means it is worse, but SA may still accept it.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1F9511-18BE-4C40-98E0-123D67A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03DDE1-129E-4DD5-B81D-34CF1CE7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39D94-C643-4EE4-AB29-71B2263B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954145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FE1DFF-535A-424B-A4EA-B6D34A912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02A9F-1704-44EC-B388-C71FFAAB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1FF8A-A621-401C-889E-F134BBF1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ACCEPTANCE RULE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D4376-41B3-466A-9B75-1B8BAAA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Simulated Annealing Converts Loss Delta Into Exploration.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1B3F0-5363-4355-B06F-A723B4E7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The temperature decides how willing the search is to keep worse candidates.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C9900-80A6-412F-9891-D5CE1465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F04A9-5FD5-4875-AC8B-B747547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38425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p(accept worse) = exp(−Δ / T)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FD71B-6B07-4F49-B11C-31BBA7E8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902CA-192C-43F6-81C1-64A0139B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61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3ECA7-AC99-4D6A-8069-510B3852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574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5B4DD-76F2-4AA6-8073-1F41C179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86025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Δ ≤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8F893-EC44-44ED-B55F-94C1539B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432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accept directly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A6191-AC7D-4B7A-A91E-BCCB06C3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63BA2-5105-4E6A-950A-F4A04FD6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6289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B846B-4256-4650-A28E-89A2A198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F8E83-9387-4869-A820-11266B3D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361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2D2D4-D654-4670-BC94-3F0901E2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5747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260CE-5B1F-48B6-A2B9-53FC7B63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86025"/>
            <a:ext cx="99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Δ &gt; 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89070C-B0F0-4CD7-B16F-1399393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accept with probability 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C9AB0-4C81-40EA-9DCC-3F28EED7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3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7DB10-560D-4C5D-B1F8-636BCE8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671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High temperature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F03F4-96BB-4D34-A95A-B4287143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815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More exploration. Worse layouts can survive, so the search can escape local minima.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E8B2C7-F681-43F5-AD78-9DEA6BE9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24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08D84D-C0FF-4BDC-BCF8-B081DA27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671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Low temperature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47D03-D428-403C-9355-7198DDFA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815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More conservative. The search increasingly prefers immediate loss improvements.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9C372-1CEA-4A08-B6D9-390743CE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601925-187A-4586-862C-1E62A6B0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67175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Cooling schedule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723DE7-50AB-435B-82C1-AD19AC57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2514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Temperature decreases over steps, shifting from exploration toward exploitation.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A5791E-1679-4931-AB9A-7D1A451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FEE00C-86E5-415A-8FD6-5D6BE611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B32C8-424B-48E9-BF7A-048714A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572125"/>
            <a:ext cx="2762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87C4DF-74FD-43AA-AF63-92D33F5C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72125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9DBB88-9E09-477C-918B-CD570415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78A689-9A44-4E5B-A6DB-488A99D3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3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cool down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847AE0-24DC-4AA8-8AD1-D65CA50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34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exploit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75E33C-A19C-40AD-9D89-D83A87BF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785C73-51B9-4BC0-AF3D-4BA6FDAE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AB61F5-B92B-4F3B-BD6C-7844CA1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023261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360D2-DFD3-4F02-BA87-837C4C2F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92D44-CBB6-48CD-A63B-CC8BB652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56DD9-8527-4767-A09A-36348464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DECISION BEFORE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72DC95-E1F3-415A-BB60-39A27EEA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Training Happens After the Acceptance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F78D5-7CB5-428B-91DC-D9CCB74A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810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This is the practical difference: the candidate is not trained first to make it look better.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0737A-73C2-4C9E-9976-73D809C7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3AB09-DCA3-450A-94A6-6424AB3B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61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F0F5F-1CEA-40A9-B961-F23841D7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6B0992-3053-44B3-A2C5-61F0B4B8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289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Evaluate current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F8D13-B3E5-4EF5-A3C5-655B8EAA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860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loss_before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F2462-C16A-4CE2-B9F4-A3DE7B1C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33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26F3D-F274-420E-B21C-02B640C5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00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DFDFF-BD98-411E-A5FD-904F282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CFF2E-01D6-4AA7-94CD-BBCE8D3E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361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60527-C6DC-4512-BD51-9352343D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28F5A-DE8E-42B9-AA96-CF7EA63F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289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Apply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D034C-69BC-4A32-8ECD-9FC679CF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860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same weights, new layout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26030-453E-4704-B09E-33D322CD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33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21DFB-97B9-46DA-B0B0-25768EB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DF6396-4D19-4DEC-8357-56AB3748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3B0E72-0C3C-4335-8178-CAA91B3C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361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95B59-83E9-4B0F-AB6B-084D7ED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E22F9-996E-4A30-89A9-B634E19C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Evaluate candidate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DDE4B-636E-4007-8C95-C0F8E7A7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loss_after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0C87D-A7E2-4704-B42D-9168F6D4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285663-E39A-4546-BF03-FB1CE385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0035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1D148-F16D-4156-88FD-32B10A6B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F230B-DE80-4C41-9133-E47546B5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3619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2939C-60E6-421F-919F-E0E72EF5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384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73EF7C-6C05-49EB-9693-FCC691EA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28900"/>
            <a:ext cx="1371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Accept / reject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557462-270A-461E-A535-20431F6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86075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based on Δ and 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DB270B-3467-4232-A53E-247A48F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672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3C8CEB-23B6-4F3A-AA90-366C39C4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6720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2A49A5-9C70-40FA-AA39-1F985F3A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6672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3F51DF-68D4-4785-A8BE-04772050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19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If accepted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6CC4EA-F107-4E49-88DD-FA080BE2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76775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Keep the candidate layout and train the inherited model on the mini-batch.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8189FE-909F-4A6C-9E2A-819962FD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67200"/>
            <a:ext cx="3143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5FD8A1-DF35-4A96-BE7B-D0BE2869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67200"/>
            <a:ext cx="361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70829A-AAEA-4CD8-B96F-C3770F2B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672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E829ED4-0BF5-4FFE-8A71-1D2343E9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19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If rejected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845652-DC92-4D69-BBF9-5D2BA82E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676775"/>
            <a:ext cx="2514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Restore the previous layout. The rejected candidate is not trained.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7FCB02-6DF5-48FC-BE2F-A35EA2B1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19750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B7FC61-C9F4-4127-AD21-D36231E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695950"/>
            <a:ext cx="47244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evaluate → accept/reject → train only if accepted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BC4C00-DB08-4E76-92BE-F75CBCDA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53125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8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This order preserves the candidate evaluation as a layout test, not a short-training contest.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3FFC6B-98AA-41EF-A252-D652D20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5A3290-20C6-4D6F-86CA-5CE50D96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3B40B6-D3D3-4F6F-9FA3-A486478F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0882463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C674B1-73A1-4007-A415-BC9A5182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EB279-22E3-4CD0-96FF-478834C8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B4B39-2D1B-4B35-A160-B1F6FE86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WHAT IS EVALUATED AT THE END?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3A08E-BB35-4E8D-ACFC-D3065474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Inherited Networks and Retrained Layouts Answer Different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03337-FF65-43CB-92C8-3DAB21C9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38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Online-Delta produces a trained search state, but fair layout claims require retraining selected layouts.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6EB25-FEA0-4787-A2EF-DDADC931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5A154-D18E-4F55-B56C-AED699BC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361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BB394-F418-482F-A4E2-A919291B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9888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C5822-1347-470D-8356-F263F9C2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76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Inherited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7ECAD-FC37-4846-B07B-9C1A2468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933700"/>
            <a:ext cx="1943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The network continuously trained during SA while layouts 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25636-160F-40AC-B346-4EDFC520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269A0-DD5B-4E32-8076-E833FEC5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A91A8-C288-4BCE-8C62-2BCE8A0C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619D5-5104-4B54-B583-6C1C13A9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361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68338-5A0A-42FC-8ABB-917A4345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9888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417F8-7595-4343-8EB6-C3EF4EB1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76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Best found layout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FC251-C96E-4DF5-8A04-61E2169D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33700"/>
            <a:ext cx="1943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The activation assignment selected by validation loss.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E4B8F-07A4-415D-9F23-9BF428CA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908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0B5E6-FC56-4ED3-B9DF-C744B529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57500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1D13B8-B299-436D-8B75-8B92D9B0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2571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BDB8F-77FA-464D-B4A3-E95A1C31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4125"/>
            <a:ext cx="3619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6EEAF8-25E3-45CA-A7BD-B7E4750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9888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E5758-71A0-475E-BDD8-FABF0074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76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Retrained layout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5992F-A2BC-4D3D-9C0E-3CC14B77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1943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Fresh training under identical final conditions.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3A560-E311-4D8C-BE10-DD822AB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38625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0455D-F2AC-4487-A5D6-FC41C845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3815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Inherited evaluation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E7BE80-7FCE-41C7-9EEC-C2FEB04D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4695825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Measures the quality of the search trajectory and accumulated training state.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3B2D6-1FBD-479A-B3BF-94F516AF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38625"/>
            <a:ext cx="4000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B39C73-C56E-48C8-B405-07D5F07D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8150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Retrained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00A62-9B3E-4A7D-ABAE-6F501DDB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95825"/>
            <a:ext cx="365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Measures the quality of the activation layout under fair final training conditions.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392695-62C8-4178-9757-D2017735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34050"/>
            <a:ext cx="676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F8D8BA-0C28-4BF4-90D6-FA30121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810250"/>
            <a:ext cx="6610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final claims focus on retrained layouts; inherited models are reported separately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B972E-D774-4E0C-A1BB-8E55F86B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2CEA2D-F53F-427F-83A6-F2B4D0B5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4019CC-0DD1-4A1A-B09F-A12EA003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190129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C8C96-A07C-40E0-845D-3F1A093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54FC6-B5ED-4E24-8BF4-372649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52FB6-64EE-4FCB-BFEB-101166A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PROPOSAL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EA61C-3CF3-47EF-B23C-4F08794B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33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Neighborhood Operations Define the Local Layout Moves.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2A882-A666-4C7C-8CDD-E6A901AF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SA does not choose arbitrary networks; it proposes small, controlled changes around the current layout.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7786D5-D062-4C2C-9E20-818B39D8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8204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78B75-D685-4713-8FD0-FD60D3C5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47975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set_neuron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91D4A-EC75-447C-AC0C-0BCCD792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FF8F3-F74F-4356-9B45-4455E70E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462C4-1306-4588-AC03-A46DD195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F86D3-CBD7-453B-89EC-6171449D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1BB45E-9BC9-4AA3-9F69-EA60956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34186-076A-4FD2-903E-E4BB9CA6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E4692-2053-415E-9049-79ED044F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3551D-0C1D-4EA7-AA94-E2A3A635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018FE-16E9-4806-A60D-3C455B8C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C49F4A-43C9-4F49-A5C1-70571BC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C3A0BF-3E20-4D22-816C-A5A15FFD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91720F-93C5-4A0B-9096-D10355A0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6B50C-EA19-4960-AD7E-72B30626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24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DFD4C-2358-4940-9424-DEBDF121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C8B75-4621-4D4F-9B0E-2A865B3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F8C06-B730-4351-A5D3-A288B93A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82B4F-273D-4134-B5B7-72D8637A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54D69-BA9E-434D-A440-93DD542C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694A8-67E5-46E0-A8C9-8BBBFFB4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DCFB3F-7712-4497-BBE1-B6AA6D8A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B00A35-91AC-4AFA-BDA1-D6C3B486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54E00-A62A-45DF-9883-7BAAFFE0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CE837-B023-4316-AB4D-8679ADD9F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FE6AB5-9EE2-4009-8DED-6A2D3CB2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5E62FD-FF9D-487D-960A-C11AE8A0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14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D770CC-F9EA-422A-AD9E-FBA3E833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2C4F8B-5D63-4A6E-8943-CA91200A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81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one neuron changes AF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CE78B3-8495-46E2-A2B9-7A40CFA7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994A"/>
                </a:solidFill>
                <a:latin typeface="Aptos"/>
                <a:ea typeface="Aptos"/>
                <a:cs typeface="Aptos"/>
              </a:rPr>
              <a:t>swap_neurons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A31E27-6900-4094-B6DE-FD8518D2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E08BC6-9181-4520-B0D1-4A490339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0C65D6-41FC-4E9F-9B01-B12098F3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95DBBC-34CA-4523-A272-A5E6AAB6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3378A8-E0DF-45BA-A8AC-001D5F6D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DA8121-2CA9-48F7-8211-DB0EFA89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376C6D-B9E9-444C-BA34-DC1EBF3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068F43-08E5-487A-97CF-3169029B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60A366-A731-4D5D-AE2B-81204B8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9CB3E2-B8A8-42AE-8D5B-878EE90F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323CFA-B040-4564-AF18-D76CD8F9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C79BB9-5215-44BF-8C48-77240380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05C2AD-C0D5-49A7-9183-FBDEB478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86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EC8E34-E457-4E26-BA73-51AC9F2C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528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C8827C2-BB1A-46F1-95FE-72A485BF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33B73C-B83E-4274-AFF2-BDDBBCF9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2C001D5-9F3B-440C-A28B-FFDB786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8EED21-B346-47A8-919D-5AC0DB4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18C54C0-6B06-4B9E-881E-5A6883C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82C5E9-A7C7-4CA6-86D8-B571ECB9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65A196-A4E9-42AB-8309-4BEAB42E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4112D4-DF89-4F28-818C-64C4812D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FF0E25-2546-4CAE-B5B3-9B94343E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0DFA475-9DBE-4A0F-8DEA-F89FB650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3D0FB9-8C15-4B79-AD57-B693BF74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76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214CD2-6BAC-4A76-BA5C-ED14915A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39A79B9-EA48-4B4F-9D7B-FB06A1B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two assignments exchange positions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175340-DB3A-4539-B395-9425ADBE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71975"/>
            <a:ext cx="1381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fill_layer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CBD787A-3F45-4246-A18B-433D64D5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974D3F5-5D8F-4661-BDD3-84E1D495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757356-6D82-4C64-A606-CA69A9E0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8EA7E3E-A492-4FCB-BED3-FCAFD7B7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D963329-E5D3-4079-8D4D-885AB979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33A040-132F-4C9B-AC72-43C8690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tan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8312BAC-9748-4546-88CF-A43A61E7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78C74A2-0039-47AF-B8A8-74C65B57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swi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36B2681-4C5B-4D17-B446-67A9C003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909C911-79E9-4DE7-A5E4-53BD93FC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sig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15356E-A9EA-4D25-AD33-C5E34474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0B4BC20-8E50-4315-B34A-42E16CDF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0514837-AC69-4536-9226-3F0849E5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481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778A"/>
          </a:solidFill>
          <a:ln xmlns:a="http://schemas.openxmlformats.org/drawingml/2006/main" w="0">
            <a:solidFill>
              <a:srgbClr val="69778A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DA43AFC-3B2F-405E-BCD5-C2B70F06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14825"/>
            <a:ext cx="19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E03151-93A8-42B1-BDB6-7A5627C2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B563D5D-52AB-4B02-9D5F-A867172C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852B82C-0ED4-4215-8197-3FD415D4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B6689C-AFC9-425F-8E3A-7E08257B1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CBCEAFC-E168-425A-B1A3-0C3B451D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8F97FD-9E16-4EDE-BF99-000A62CA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0F156AA-206C-4D91-93C5-A70DD3BA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4FBE7B-CA9B-4F3D-876F-DC76A071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2E327F-7AFD-452F-A891-C56CB15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9E66F9D-ACEB-48FF-A86E-3E26625B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AD223C5-5AE7-485F-B0E8-F122F48B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38625"/>
            <a:ext cx="457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C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25FAEC9-035C-4970-ADE3-AE90CC5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457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gel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DCA8C33-3CAB-4958-B13D-DC26C0B7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whole layer becomes one AF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A90FC88-1B4C-4154-A1CD-61F18A48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572125"/>
            <a:ext cx="638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0848682-2F0F-49F2-A0D1-D90A209C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648325"/>
            <a:ext cx="6229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operation choice controls how locally or aggressively the search explores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0FEA505-A553-4172-A994-30712820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8E826C5-BF1F-4E7E-9CF2-0E76197E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7F9E70C-7063-4977-916A-5D15CEB6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3955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541A15-FB70-46EB-9295-2686872C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89CBC-64CD-474D-89CE-DF73A18F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AC443-9598-40B6-8C94-BE54AA35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BENCHMARK AND MEASUREMENT 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E91E8-6FC5-4931-8025-AE9DCAC9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The Evaluation Frame Is Fixed Before Comparing Layouts.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80696-8A7C-40EA-ADE2-FCB2226F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Search uses loss; test data is reserved for final reporting.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450A2-D489-4C17-A7DA-AE026BD6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3B"/>
          </a:solidFill>
          <a:ln xmlns:a="http://schemas.openxmlformats.org/drawingml/2006/main" w="0">
            <a:solidFill>
              <a:srgbClr val="1D2B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774D2-4673-47FF-9C7D-7CB49695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2276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Benchmark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9F9D4-2F5F-49CA-A7F6-70FEC03C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390775"/>
            <a:ext cx="1228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41B96-BACF-4ECC-966F-61B46193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907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 training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7660C-689A-4468-AD97-DA1DFA52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Tuning range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E067B-56AD-43FD-AD3D-3662AD95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89815-AF10-415F-B01A-112BE988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B9A6B-463F-493E-AB18-E61A6239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2276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concentric_circles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90096-E05C-4738-B8CF-287BFF43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905125"/>
            <a:ext cx="1228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2-8-1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E8AC5A-3FCE-4CE6-804C-187253BD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051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100 epochs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CB693-C4D6-4859-B75E-21FEE526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051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fixed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D3D3A-306F-4BCC-B4D2-052BBF7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0512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easy sanity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D3930-1E13-41F3-8693-AD192B1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4EC50D-50D5-40EC-8BF1-0DFFE389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2276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iris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DFF93-9188-405C-9A75-E3136781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419475"/>
            <a:ext cx="1228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4-8-3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9CD77-8902-46CB-8C53-6821F0F6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194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150 epochs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FD4A3F-1126-42D6-8507-72FDA3D4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1947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up to 500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3376B-92D0-4CF4-A386-82E83F43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1947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medium multi-class benchmark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7EF0A-E48D-4AC3-8C0A-60924F95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047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60498-B914-4C01-891F-9F7B18AA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22764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crossing_spirals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BB8831-99DC-4660-BE9B-FFC4726D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933825"/>
            <a:ext cx="1228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6-16-16-1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8E60D-326A-459C-BBC3-A6B575A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9338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250 epochs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9F03A0-57CE-4836-8537-BF2CF1AB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33825"/>
            <a:ext cx="1657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up to 500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8AAF9C-4333-47A9-BBEB-99162574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3382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hard stress 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9A282C-8A36-4CAD-AC43-349E0D51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29125"/>
            <a:ext cx="790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648BB3-1606-475B-8439-51074C3D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505325"/>
            <a:ext cx="77533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E7D57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E7D57"/>
                </a:solidFill>
                <a:latin typeface="Aptos"/>
                <a:ea typeface="Aptos"/>
                <a:cs typeface="Aptos"/>
              </a:rPr>
              <a:t>activation set: relu | gelu | sigmoid | tanh | swish | identity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1D1038-85DD-4601-AFC6-1CC8A7E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Common reporting metrics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B31CA-4C99-4671-AE19-1E9DEAB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0065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mean validation loss  •  std validation loss  •  mean test loss  •  mean test accuracy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9DBB5C-8650-4408-8499-5676C6CC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38FA5B-254D-4D8A-A543-4C6A633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D9539B-5ABB-445D-A06B-BADCDD6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714466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42BDD-DFA8-4A10-8B2E-C2585A94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E3C78E-87D5-4C43-8657-EB9DEB5D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0F0AA-4DB3-4FFB-B116-04821A93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EXPERIMENT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86D84-2CBB-4944-8D99-5688069A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858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625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E1-E7 Turn the Method Into a Fair Comparison.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D2C1E-9E73-4AAC-9E70-A895033C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The baselines answer whether SA adds value beyond obvious or random layouts.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C85B0-9228-40C5-8978-E93B09EA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3B"/>
          </a:solidFill>
          <a:ln xmlns:a="http://schemas.openxmlformats.org/drawingml/2006/main" w="0">
            <a:solidFill>
              <a:srgbClr val="1D2B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6DCB2-642B-4E0D-BDED-A4D98AA6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71725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7DC58-B1B7-4556-BBF5-C4A4766F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7172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Experiment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0DC01-F354-4CAE-A1ED-4E38556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71725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Layouts /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E296E-D54C-49E0-A60F-BDCD1C36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371725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8DFB9-0C80-40A6-A506-31B01BEA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371725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BBBCE-1D52-4F28-B46D-F9CC949D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AAFEF-FA15-4270-9102-2F0F2C5A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91843-5C81-4A00-BB1A-2E9AE5A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035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single-AF baselines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9BE5A-6CC3-4876-A522-77B787F7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00350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all_relu, all_gelu, all_sigmoid, all_tanh, all_swish, all_identity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17F8AC-6A52-4062-840B-F027F75F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00350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F23D2E-0A75-4FEA-9010-C143E6D2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00350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strong non-SA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0CE6C1-9C56-4B26-9664-60B67A4F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8D2176-BF94-4A6D-9A5A-27E0B8ED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3DD9C-BBCF-44B7-B7DE-126B86EB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2897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random mixed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171F0-3516-4C2D-826D-DFDF5A0D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28975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random activation layouts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D93FD-1C87-4CF4-85F8-1526410E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28975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D358F9-8FEA-481C-88BD-48F46C32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28975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checks whether random mixing is already competitive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430A8-04DF-473D-B8D1-A52E7E93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08174-3669-4863-86D1-36527D9C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59D6B-CA1E-4092-B26C-8B03FBAF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5760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online-delta SA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5ADA8A-D1B2-416D-BC96-23B317E6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start from all_relu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06B492-162C-45AF-8483-7F1AFF19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657600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F971E-C5A1-492F-8AFD-4E7BB5E6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57600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can SA improve a common baseline?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D521E9-8F46-4E5C-BBBC-D998BE7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02B3F-C000-4617-8FF3-7498CABD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29E3D0-B5B7-4396-A2E4-7615327E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online-delta SA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43092-F9F4-455A-B7E3-FDD2F397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start from all_tanh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5C0A61-A571-4316-A188-204E1C0F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086225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2BB0E0-BBA9-41A3-A8D3-C6D2ABA6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086225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can SA improve another smooth baseline?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EFC919-6677-493E-886C-CF7238D7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BA4F36-6509-4C12-9B48-22F1F657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54495A-4493-4ABC-97C1-97F51EDE9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1485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online-delta SA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00CABB-5A50-4A0F-90FD-8325FEC3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14850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start from all_sigmoid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9B2BBC-2B6D-44C0-A543-CC07D36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514850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2546D0-0B1C-460D-8821-4DB5272F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514850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can SA escape a weak saturating baseline?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787D1F-7442-45CE-94C4-292F4922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078831-1B36-4732-A401-ADEE45F1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43475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65EE1C-A8AF-48E8-8E21-934EED82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43475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online-delta SA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DC335E-493D-49F5-91C7-711EF572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43475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start from all_identity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2908D4B-8072-43B0-AFDB-E57B00F5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943475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29A24A-2A59-4382-B240-02BC3C61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943475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does SA damage or improve a strong simple layout?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19A7A3-D5F0-48BC-AB66-2D9CD94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67325"/>
            <a:ext cx="10629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8CCB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917918-8E4D-481F-A851-9501DB43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381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E7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DE8568-44FF-4647-BAC1-927E5F64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72100"/>
            <a:ext cx="1657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online-delta SA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FDFF25-0712-4240-BA3C-A723D429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72100"/>
            <a:ext cx="44672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start from random layout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2A4E56-1287-46D9-9F2C-B3592015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372100"/>
            <a:ext cx="514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3DE7D1-0EFC-439F-9951-6800F908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372100"/>
            <a:ext cx="28479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698" b="0">
                <a:solidFill>
                  <a:srgbClr val="172231"/>
                </a:solidFill>
                <a:latin typeface="Aptos"/>
                <a:ea typeface="Aptos"/>
                <a:cs typeface="Aptos"/>
              </a:rPr>
              <a:t>does SA refine an already mixed layout?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004CF1-7ACD-4587-8286-F0434167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34050"/>
            <a:ext cx="771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2CB36D-C488-4E6C-AC7D-BC012ED3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810250"/>
            <a:ext cx="75628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F80ED"/>
                </a:solidFill>
                <a:latin typeface="Aptos"/>
                <a:ea typeface="Aptos"/>
                <a:cs typeface="Aptos"/>
              </a:rPr>
              <a:t>final comparison: start layout vs best SA layout vs end SA layout vs E1/E2 baselines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B6FB2B-5BE8-4C74-8F5E-431261C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863D8C-4190-470A-8CF7-296AD424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866A85-0A76-43F3-96F3-315F7125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55412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9A0CF8-38E6-480A-9885-C006BFFF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6"/>
          </a:solidFill>
          <a:ln xmlns:a="http://schemas.openxmlformats.org/drawingml/2006/main" w="0">
            <a:solidFill>
              <a:srgbClr val="F6F0E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32EE2-3CF4-4CC7-9C70-43F96C72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AD07E-143E-4D5C-BC22-F8E393A3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INTERPRETATION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0E279-AEB6-407D-90CA-C9CDAAD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231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72231"/>
                </a:solidFill>
                <a:latin typeface="Georgia"/>
                <a:ea typeface="Georgia"/>
                <a:cs typeface="Georgia"/>
              </a:rPr>
              <a:t>A Useful SA Method Must Improve Layouts Under Fair Final Training.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11EFA-957C-4459-896F-8044F693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8096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The claim is not based on one search trajectory, but on retrained multi-seed comparisons.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FA29A-3F7F-4591-87BD-81ECF21D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AE9B1-F7B9-4758-853C-21E19248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361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solidFill>
              <a:srgbClr val="2F80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E2AC7-E403-4495-810B-4D71D045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813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97BD47-FC8D-4481-B648-2CA94D0B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7241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Primary ranking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17A16-ED65-4BB2-9815-18A2684C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81325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mean validation loss across seeds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ABAF7-5BE2-4105-8E85-260F2E82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09E18-6AB3-4EB0-B695-5F742AF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71750"/>
            <a:ext cx="361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7"/>
          </a:solidFill>
          <a:ln xmlns:a="http://schemas.openxmlformats.org/drawingml/2006/main" w="0">
            <a:solidFill>
              <a:srgbClr val="2E7D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05D7F-1F67-46E7-AAFB-926C91E8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813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F15FA-F9F3-49C1-8FB8-1D76573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7241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91AA9-8A3D-4579-A8C7-4B0EF8B6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981325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standard deviation across seeds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7B20E-B53C-4247-8E64-36342440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DBCD0-86F7-4B83-AEFE-CD0A03BB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71750"/>
            <a:ext cx="361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0">
            <a:solidFill>
              <a:srgbClr val="F299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2730C-46B5-4472-8B20-3FFC6CCE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813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DE692-187E-4623-9FA5-4994FA3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72415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Final reporting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2EF6A-E4F8-4AF2-A828-F8885C31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981325"/>
            <a:ext cx="2514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test loss and test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4B062-BC7C-40A2-B314-680B5702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F"/>
          </a:solidFill>
          <a:ln xmlns:a="http://schemas.openxmlformats.org/drawingml/2006/main" w="9525">
            <a:solidFill>
              <a:srgbClr val="2E7D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D5A17-2CD9-43FF-AB27-65DF4474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767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Success criterion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EFACA4-3D65-4838-8388-79A55AF7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Online-Delta is useful if it improves weak start layouts and remains competitive with simple baselines.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E868D6-A519-4C92-9EDD-D95E75B8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00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3"/>
          </a:solidFill>
          <a:ln xmlns:a="http://schemas.openxmlformats.org/drawingml/2006/main" w="9525">
            <a:solidFill>
              <a:srgbClr val="F299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392156-F205-4F76-9C2B-224FF75A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76750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2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231"/>
                </a:solidFill>
                <a:latin typeface="Aptos"/>
                <a:ea typeface="Aptos"/>
                <a:cs typeface="Aptos"/>
              </a:rPr>
              <a:t>Open ablations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4BE5CB-4B0F-45D1-BE0E-62A4CABE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91075"/>
            <a:ext cx="3657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Compare short-retrain vs online-delta and test proposal-operation probabilities after E1-E7 are stable.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334D25-F067-488E-9976-23F5FF2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531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A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A4F3-3533-4603-B7FF-BA94329C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29300"/>
            <a:ext cx="72771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interpretation boundary: no superiority claim without mean/std over the full experiment matrix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73CF90-1840-46F9-91C6-DDF0B4D6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388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A"/>
          </a:solidFill>
          <a:ln xmlns:a="http://schemas.openxmlformats.org/drawingml/2006/main" w="0">
            <a:solidFill>
              <a:srgbClr val="D8CCB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65BF24-4125-41EE-B048-9F019F58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9778A"/>
                </a:solidFill>
                <a:latin typeface="Aptos"/>
                <a:ea typeface="Aptos"/>
                <a:cs typeface="Aptos"/>
              </a:rPr>
              <a:t>Activation-function layouts with online-delta simulated annealing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174D26-2C04-4D7D-9E1B-54C2AE5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69778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977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733591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2026-05-19T07:11:45.6910000Z</dcterms:created>
  <dcterms:modified xsi:type="dcterms:W3CDTF">2026-05-19T07:11:45.6910000Z</dcterms:modified>
</coreProperties>
</file>