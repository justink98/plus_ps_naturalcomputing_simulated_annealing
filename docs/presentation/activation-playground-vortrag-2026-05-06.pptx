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2d3ad5a5894b0a" /><Relationship Type="http://schemas.openxmlformats.org/officeDocument/2006/relationships/extended-properties" Target="/docProps/app.xml" Id="R0524e3dbbe0843a2" /><Relationship Type="http://schemas.openxmlformats.org/officeDocument/2006/relationships/officeDocument" Target="/ppt/presentation.xml" Id="Rdf42bf7955a44f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6b5d8a47c04d2e"/>
  </p:sldMasterIdLst>
  <p:notesMasterIdLst>
    <p:notesMasterId xmlns:r="http://schemas.openxmlformats.org/officeDocument/2006/relationships" r:id="Ra3d1b012fca14f83"/>
  </p:notesMasterIdLst>
  <p:sldIdLst>
    <p:sldId xmlns:r="http://schemas.openxmlformats.org/officeDocument/2006/relationships" id="256" r:id="R0e6e4affa2464fa6"/>
    <p:sldId xmlns:r="http://schemas.openxmlformats.org/officeDocument/2006/relationships" id="257" r:id="R6ce09507b4764c5a"/>
    <p:sldId xmlns:r="http://schemas.openxmlformats.org/officeDocument/2006/relationships" id="258" r:id="Rc674dadbf4e24fd4"/>
    <p:sldId xmlns:r="http://schemas.openxmlformats.org/officeDocument/2006/relationships" id="259" r:id="R84fce9fd33e64be6"/>
    <p:sldId xmlns:r="http://schemas.openxmlformats.org/officeDocument/2006/relationships" id="260" r:id="R4e5e9166e29746a3"/>
    <p:sldId xmlns:r="http://schemas.openxmlformats.org/officeDocument/2006/relationships" id="261" r:id="R13e38766ba944da3"/>
    <p:sldId xmlns:r="http://schemas.openxmlformats.org/officeDocument/2006/relationships" id="262" r:id="R43aa594bb3334566"/>
    <p:sldId xmlns:r="http://schemas.openxmlformats.org/officeDocument/2006/relationships" id="263" r:id="R5992fb88ad5147ff"/>
    <p:sldId xmlns:r="http://schemas.openxmlformats.org/officeDocument/2006/relationships" id="264" r:id="R18ae382ea1eb4d97"/>
    <p:sldId xmlns:r="http://schemas.openxmlformats.org/officeDocument/2006/relationships" id="265" r:id="R3be3f312300444af"/>
    <p:sldId xmlns:r="http://schemas.openxmlformats.org/officeDocument/2006/relationships" id="266" r:id="R144161b38f244c47"/>
    <p:sldId xmlns:r="http://schemas.openxmlformats.org/officeDocument/2006/relationships" id="267" r:id="R9c5c658f943745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b5d8a47c04d2e" /><Relationship Type="http://schemas.openxmlformats.org/officeDocument/2006/relationships/theme" Target="/ppt/theme/theme1.xml" Id="Rd4704fdc8a254851" /><Relationship Type="http://schemas.openxmlformats.org/officeDocument/2006/relationships/notesMaster" Target="/ppt/notesMasters/notesMaster1.xml" Id="Ra3d1b012fca14f83" /><Relationship Type="http://schemas.openxmlformats.org/officeDocument/2006/relationships/presProps" Target="/ppt/presProps.xml" Id="R3077604969314ca2" /><Relationship Type="http://schemas.openxmlformats.org/officeDocument/2006/relationships/viewProps" Target="/ppt/viewProps.xml" Id="Rf359f33e62c94c42" /><Relationship Type="http://schemas.openxmlformats.org/officeDocument/2006/relationships/tableStyles" Target="/ppt/tableStyles.xml" Id="R5be602f0f56c47a4" /><Relationship Type="http://schemas.openxmlformats.org/officeDocument/2006/relationships/slide" Target="/ppt/slides/slide1.xml" Id="R0e6e4affa2464fa6" /><Relationship Type="http://schemas.openxmlformats.org/officeDocument/2006/relationships/slide" Target="/ppt/slides/slide2.xml" Id="R6ce09507b4764c5a" /><Relationship Type="http://schemas.openxmlformats.org/officeDocument/2006/relationships/slide" Target="/ppt/slides/slide3.xml" Id="Rc674dadbf4e24fd4" /><Relationship Type="http://schemas.openxmlformats.org/officeDocument/2006/relationships/slide" Target="/ppt/slides/slide4.xml" Id="R84fce9fd33e64be6" /><Relationship Type="http://schemas.openxmlformats.org/officeDocument/2006/relationships/slide" Target="/ppt/slides/slide5.xml" Id="R4e5e9166e29746a3" /><Relationship Type="http://schemas.openxmlformats.org/officeDocument/2006/relationships/slide" Target="/ppt/slides/slide6.xml" Id="R13e38766ba944da3" /><Relationship Type="http://schemas.openxmlformats.org/officeDocument/2006/relationships/slide" Target="/ppt/slides/slide7.xml" Id="R43aa594bb3334566" /><Relationship Type="http://schemas.openxmlformats.org/officeDocument/2006/relationships/slide" Target="/ppt/slides/slide8.xml" Id="R5992fb88ad5147ff" /><Relationship Type="http://schemas.openxmlformats.org/officeDocument/2006/relationships/slide" Target="/ppt/slides/slide9.xml" Id="R18ae382ea1eb4d97" /><Relationship Type="http://schemas.openxmlformats.org/officeDocument/2006/relationships/slide" Target="/ppt/slides/slide10.xml" Id="R3be3f312300444af" /><Relationship Type="http://schemas.openxmlformats.org/officeDocument/2006/relationships/slide" Target="/ppt/slides/slide11.xml" Id="R144161b38f244c47" /><Relationship Type="http://schemas.openxmlformats.org/officeDocument/2006/relationships/slide" Target="/ppt/slides/slide12.xml" Id="R9c5c658f943745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baa582da3cf4c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f9d0692369436e" /><Relationship Type="http://schemas.openxmlformats.org/officeDocument/2006/relationships/notesMaster" Target="/ppt/notesMasters/notesMaster1.xml" Id="R1d7c025a56fc44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02bf8cf8b2409e" /><Relationship Type="http://schemas.openxmlformats.org/officeDocument/2006/relationships/notesMaster" Target="/ppt/notesMasters/notesMaster1.xml" Id="Rb47a5e284c574d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bb013297ad4238" /><Relationship Type="http://schemas.openxmlformats.org/officeDocument/2006/relationships/notesMaster" Target="/ppt/notesMasters/notesMaster1.xml" Id="R8f747a15f67542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4f0c1a437f4f2c" /><Relationship Type="http://schemas.openxmlformats.org/officeDocument/2006/relationships/notesMaster" Target="/ppt/notesMasters/notesMaster1.xml" Id="Rcd5623ca2cf44d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63ae85804d4dc4" /><Relationship Type="http://schemas.openxmlformats.org/officeDocument/2006/relationships/notesMaster" Target="/ppt/notesMasters/notesMaster1.xml" Id="R74507cfd22a64a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a4b4b365224219" /><Relationship Type="http://schemas.openxmlformats.org/officeDocument/2006/relationships/notesMaster" Target="/ppt/notesMasters/notesMaster1.xml" Id="Rc330033a81514e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714a8454764bce" /><Relationship Type="http://schemas.openxmlformats.org/officeDocument/2006/relationships/notesMaster" Target="/ppt/notesMasters/notesMaster1.xml" Id="R48ec9844ec3849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9f7e666e194d41" /><Relationship Type="http://schemas.openxmlformats.org/officeDocument/2006/relationships/notesMaster" Target="/ppt/notesMasters/notesMaster1.xml" Id="Rf78d4b904df347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ffc1ba2b164c5f" /><Relationship Type="http://schemas.openxmlformats.org/officeDocument/2006/relationships/notesMaster" Target="/ppt/notesMasters/notesMaster1.xml" Id="R42112ab1baf441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464474b7324e8f" /><Relationship Type="http://schemas.openxmlformats.org/officeDocument/2006/relationships/notesMaster" Target="/ppt/notesMasters/notesMaster1.xml" Id="Rf89b3e8498f246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889c89b299458d" /><Relationship Type="http://schemas.openxmlformats.org/officeDocument/2006/relationships/notesMaster" Target="/ppt/notesMasters/notesMaster1.xml" Id="Ra033d323f69646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0bac6138564419" /><Relationship Type="http://schemas.openxmlformats.org/officeDocument/2006/relationships/notesMaster" Target="/ppt/notesMasters/notesMaster1.xml" Id="R9d0489acae37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eb71b001e486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58558223e354e24" /><Relationship Type="http://schemas.openxmlformats.org/officeDocument/2006/relationships/slideLayout" Target="/ppt/slideLayouts/slideLayout2.xml" Id="Rc510daaa3a45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10daaa3a45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e548a74b9a48cf" /><Relationship Type="http://schemas.openxmlformats.org/officeDocument/2006/relationships/notesSlide" Target="/ppt/notesSlides/notesSlide1.xml" Id="Rece1f7cbcb6b49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b0755e306f4d42" /><Relationship Type="http://schemas.openxmlformats.org/officeDocument/2006/relationships/notesSlide" Target="/ppt/notesSlides/notesSlide2.xml" Id="R2751d6cdf4374f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d811e20da445ce" /><Relationship Type="http://schemas.openxmlformats.org/officeDocument/2006/relationships/notesSlide" Target="/ppt/notesSlides/notesSlide3.xml" Id="Rb0acee77cb1546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a86a24d4894518" /><Relationship Type="http://schemas.openxmlformats.org/officeDocument/2006/relationships/notesSlide" Target="/ppt/notesSlides/notesSlide4.xml" Id="R967770cdd1e444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f75ac3f7ca4af3" /><Relationship Type="http://schemas.openxmlformats.org/officeDocument/2006/relationships/notesSlide" Target="/ppt/notesSlides/notesSlide5.xml" Id="R1ed6b73bd93641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2c75a8aaa946b1" /><Relationship Type="http://schemas.openxmlformats.org/officeDocument/2006/relationships/notesSlide" Target="/ppt/notesSlides/notesSlide6.xml" Id="Rae6a14c0ae5b49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42ccd7e8834c88" /><Relationship Type="http://schemas.openxmlformats.org/officeDocument/2006/relationships/notesSlide" Target="/ppt/notesSlides/notesSlide7.xml" Id="R29bf725d5f1347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9b8e439e744c0e" /><Relationship Type="http://schemas.openxmlformats.org/officeDocument/2006/relationships/image" Target="/ppt/media/image.png" Id="R64b3ad6a39a240fa" /><Relationship Type="http://schemas.openxmlformats.org/officeDocument/2006/relationships/notesSlide" Target="/ppt/notesSlides/notesSlide8.xml" Id="R3bdef63763bc43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606310b52640f6" /><Relationship Type="http://schemas.openxmlformats.org/officeDocument/2006/relationships/image" Target="/ppt/media/image2.png" Id="Re20b42587cce40cf" /><Relationship Type="http://schemas.openxmlformats.org/officeDocument/2006/relationships/notesSlide" Target="/ppt/notesSlides/notesSlide9.xml" Id="R9e8ca75c14e243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7302157453403d" /><Relationship Type="http://schemas.openxmlformats.org/officeDocument/2006/relationships/image" Target="/ppt/media/image3.png" Id="R0b5e013838d54b00" /><Relationship Type="http://schemas.openxmlformats.org/officeDocument/2006/relationships/notesSlide" Target="/ppt/notesSlides/notesSlide10.xml" Id="Ra9ea22058b0e48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d705686e5f45a1" /><Relationship Type="http://schemas.openxmlformats.org/officeDocument/2006/relationships/notesSlide" Target="/ppt/notesSlides/notesSlide11.xml" Id="Rb73a7bf9126642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f43dbc0c5a4df1" /><Relationship Type="http://schemas.openxmlformats.org/officeDocument/2006/relationships/image" Target="/ppt/media/image4.png" Id="R56cb5de723fa499c" /><Relationship Type="http://schemas.openxmlformats.org/officeDocument/2006/relationships/notesSlide" Target="/ppt/notesSlides/notesSlide12.xml" Id="R05444cedfe994e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59C0F-FC2F-4E8B-8F84-2579DCE9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5BA98-2250-4DC2-9FF4-6CA01C0C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1407E-7A2F-4185-9814-6A7AD953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67DF0-12EB-4076-B35B-FB3028D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A13BB-5A2C-4247-907E-346807BA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NATURAL COMPUTATION · PROJEKTSTAND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846C7-0B90-4A87-BE44-E94D1AD1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19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Wir optimieren nicht Gewichte,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sondern Aktivierungs-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verteilungen.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1B44B-4A82-4BF3-B897-4EBF816A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600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Activation Playground als Experimentierplattform für Simulated Annealing in kleinen neuronalen Netzen.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A1E29-0937-4779-B580-B9CD1659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47750"/>
            <a:ext cx="361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0303A"/>
          </a:solidFill>
          <a:ln xmlns:a="http://schemas.openxmlformats.org/drawingml/2006/main" w="9525">
            <a:solidFill>
              <a:srgbClr val="3751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008F1-B3B8-4333-B861-3F7EA058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83E17-392B-464A-BAA9-A67BD63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offizielle CSV-Benchmarks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91550-EBE2-4536-BEAC-3D1F0E8F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CA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D8CA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47DAF-7031-4856-AE66-5206B984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Aktivierungsfunktionen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B7844-11DD-46C1-BB86-53FC94E3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81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E7C5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E7C59"/>
                </a:solidFill>
                <a:latin typeface="Aptos"/>
                <a:ea typeface="Aptos"/>
                <a:cs typeface="Aptos"/>
              </a:rPr>
              <a:t>SA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56E90-1745-4D3A-8D6D-3238D475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Suche über Layouts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8F390-B1CB-4D38-8F0F-9F8AE14F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66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25779-820A-4760-949E-7DDD968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624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Layout = AF-Verteilung in Hidden-Layern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DF61F-0C7F-436C-9BF5-EAC468D9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624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Gewichte werden danach separat und fair trainiert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CF812-2A59-4360-9D8E-936FA774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387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Stand: 05.05.2026</a:t>
            </a:r>
          </a:p>
          <a:p xmlns:a="http://schemas.openxmlformats.org/drawingml/2006/main">
            <a:pPr algn="l">
              <a:defRPr sz="12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Demo- und Report-Fokus für den Vortrag morgen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52E51-CEF9-405E-BE6B-319AAD0A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C771B-CD8D-4386-9A11-6D59DBEC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23227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76DD61-A7DA-46D1-A6D9-F27E4096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57C6F-1B80-466B-B936-B9419CCD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D3B7C-4006-4A34-8C99-60C172D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4B463-D6D9-471E-84EF-F547F14A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SEMINARAUFTRAG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B59B3-5C6A-49A7-A4B6-0257F9E1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Die Aufgabe wird als diskretes Suchproblem formuliert.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3C7E6-CE92-4C96-BEF7-0CEF34AE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Vorgabe: “optimize the distribution of AFs in a basic ANN by means of Simulated Annealing”.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6FC24-D57E-44D9-A638-F0994BF9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D4C14-17AB-41C3-934B-A8C874DA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Was bleibt klassisch?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547CB-BD20-4144-A4D1-095C266E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Gradient Descent trainiert die Gewichte eines gegebenen Netzes. Dadurch ändern sich Kantenstärken und Biases, aber nicht die Aktivierungsfunktionen.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BF03F-03C3-462E-B8C1-DA262F5A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BEA21-6FFA-4FC8-AFF6-190DDD9E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Was sucht SA?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AD3E3-E689-4905-ACE4-3F1574AA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Simulated Annealing verändert diskrete Layouts: z. B. ein Neuron von ReLU zu tanh oder eine ganze Schicht zu swish.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B3D6C-4E90-4956-992A-899A5EC9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50269-12B0-4743-9EAD-86FDFF0F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Was wird verglichen?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5CAB9-8690-42D1-BADC-E8738C2F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Startlayout, SA-Bestlayout und Baselines werden danach unter denselben Trainingsbedingungen final trainiert.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6EA6B-78C8-4138-AB71-F139996D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8763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02C8B-71BB-4562-9AA2-9D5F7CD4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48250"/>
            <a:ext cx="834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score(layout) = Validation Loss nach kurzem Kandidatentraining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F377C-0623-471D-B916-876AB907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kleiner ist besser; Testdaten bleiben für die finale Bewertung reserviert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BE633-CA77-4EDA-BDF6-C20E949A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2E792-E6D7-40F7-AD27-86E8A598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82767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66C91-0BD2-4ED7-A8E7-9F49C519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F3117-C9EB-417A-8829-9735E694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728F4-9FFD-4353-869E-305BFC50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8AE4D-0390-4E50-8C4C-95B008D2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BENCHMARK-SUITE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7F3B9-F24D-4AC4-AC21-90DD2C86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Die neue Basis sind drei gemeinsame CSV-Benchmarks.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C18E5-184C-4A7F-B8A8-23CCEDC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37A91-424A-40B8-AA61-D36986B0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Topologie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24020-B0E2-49DE-A45B-FDCC880A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Epochs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4F80E-43D3-45B5-A603-FDA481A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Rolle im Vortrag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3A32A-82C0-4A0D-8047-CDD7B7A1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85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E3D9F-2622-4296-8B5D-F075BDEC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concentric_circles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DE44D-2AD3-4D29-99AB-6A035F1B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2-8-1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38B58-BF20-41B3-BBC5-487B31DE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35984-8F5F-4398-924B-49C3C344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klarer Demo-Erfolgscase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E0F02-AF49-470F-83F9-099685DE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85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E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9CF9B-9776-480F-B4E0-4938F881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iris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4EA9E-C301-4335-9B5B-3507FF3D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4-8-3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50630-4AF3-44EC-849A-FF08DA67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14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E1DFC-F1D7-4104-BE7D-2A22CDCC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Mehrklassen-Sanity-Check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0C08E2-5035-4DEC-AB80-AF08BD4C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85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EE222-CD0A-4727-B6C7-12DD36ED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crossing_spirals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D17A4-73CD-4209-8570-9D0B6400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6-16-16-1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AE5AA-C3BF-4491-905E-A0F8C66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57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250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51ADC-DBE1-46C1-8825-3A9D5036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ehrlicher Hard-Case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DC9F1-B4FC-4E18-A94B-BDAFCA6F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43500"/>
            <a:ext cx="9048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7567D-DBD1-4568-87AC-EBE542E9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295900"/>
            <a:ext cx="862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AF-Set = { ReLU, GELU, Sigmoid, tanh, Swish, Identity 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88B7FD-B205-4181-B75E-02453DF6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657850"/>
            <a:ext cx="862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Wine/Digits sind nicht mehr Produktpfad; die Ergebnisse beziehen sich auf die CSV-Suite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C7C44-DEEE-445C-9537-0F23D056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D0567-F1D4-4E00-93D3-9EAB54B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99672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E3806-84C8-4558-8854-331008F1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35D27-B4F6-47D3-9CAB-10BB262E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8BA15-5120-4D24-96FB-6EB337AE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AE156-E4BC-4C6D-89E9-6DF1E867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METHODE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73FFD-A912-4022-AA47-3DB10C84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Der Workflow verbindet Demo, Suche und fairen Vergleich.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DADB8-2D87-43EB-9B2B-8503A874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7716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2C3E5-44E5-45C1-AD66-C5EB68C6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5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C51C6-45BB-4D1B-89B6-A6CB1B29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7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22685-2111-4385-91C4-8DD0C45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CSV laden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922A5-9BD0-487F-AE41-46F0BDC1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Train / Val / Test trennen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BF0E0-37E8-4302-AC59-A9E869C6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3243263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B7F4A-6139-4088-A7BE-C82A67C9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17716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3EC9D-4F48-4666-B467-2C15ADDD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67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5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1B932-C61F-4619-9BBF-1638FF9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336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7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FF870-00AA-40A4-8793-E41A1C0E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Layout wählen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D86E2-99D1-484E-992E-0EB73503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05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manuell oder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B572C-1DAA-46CC-A1AD-764F549A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243263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C80EB-0613-41E8-A7D3-C57DE396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76500"/>
            <a:ext cx="17716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BFE92-B291-4580-A763-B8694E7A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67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E6389-B744-493B-8641-209A5E57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336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F064A-A489-4D23-B896-DA1A3258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 suchen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386E4-73EC-4E1D-9EC9-D4AF8A45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05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Neighbor -&gt; Candidate -&gt; Acceptance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7429C-2858-407A-8ED4-74DF1A19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243263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B3F12-ED73-4970-BE0D-6BEFDF52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7716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E4954-5CAF-4773-B04D-B8ACE7A9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67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5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FEE3D-1C6C-4BB8-8286-B9E8D321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336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7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4D3129-7F56-4307-A8AC-2F7876FB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Final trainieren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6FD749-8202-4AC5-9C4B-7C207ADB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gleiche Seeds, gleiche Epochs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0E675C-9F77-4A57-87B2-D2825491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243263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A945FF-2337-408D-8C07-933DC240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17716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C5CF6F-6E41-40DB-8A72-AFB29535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5D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BCB375-5AC7-4DE0-965D-14DD7459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336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7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C043E3-A83B-42DC-895B-8D1F0071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Vergleichen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53343D-A0F5-4CAE-8B47-48AB1740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Val fürs Ranking, Test fürs Fazit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7FB649-3608-4F59-8CCF-9BBBE36A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1AEB97-2CD7-40D6-AB81-78E8FA5A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902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Die GUI zeigt den Lernprozess, aber die Ergebnislogik liegt reproduzierbar in CLI/Services.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17C3DD-3084-434F-8A1D-56230C5A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5EAAFB-8525-462E-AB9B-728F2B26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02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 wird nicht als Zaubertrick verkauft: es ist eine heuristische Suche mit Budget und Validierungsziel.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E1E8AD-901A-4434-A418-450E4853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23CF14-EA74-492D-8B51-2BB20CAE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25367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B2323B-1377-47C3-BBED-EFDEBC2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83069-D31F-49BD-817A-E01B91AE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7266B-886F-4DE3-A1D6-789DD634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F25BC-6CEE-4611-A453-A0BE2ED0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NEURAL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4A7E6-365A-438D-BBC7-645CF362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Im einfachsten Fall sieht man, was ein Layout beim Training leistet.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9B702-C1DD-46E7-9178-9B5E5EC9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955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6B314-5E34-4B8A-85D2-D3505E0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24955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Hidden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0726C-1ACD-4EBD-BB17-57A33BFF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163" y="24955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ED6CC-CA6D-4078-B52B-935F0B56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1909">
            <a:off x="1352550" y="2967038"/>
            <a:ext cx="193422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A66F9-7953-4DB2-973A-DE48EA6B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1038">
            <a:off x="1352550" y="2967038"/>
            <a:ext cx="204522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58404-7B6E-4878-9D8B-8B3AFD8F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3311">
            <a:off x="1352550" y="2967038"/>
            <a:ext cx="225511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23561-2FB6-45C4-B307-8082271C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49504">
            <a:off x="1352550" y="2967038"/>
            <a:ext cx="253950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DCCD1-265D-4F57-958D-F3A0DE00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2374">
            <a:off x="1352550" y="3447098"/>
            <a:ext cx="19391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190FF-AEF8-4160-B6E5-CFF997AE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1909">
            <a:off x="1352550" y="3447098"/>
            <a:ext cx="193422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6724D-C979-4784-8EEE-DDA8704C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1038">
            <a:off x="1352550" y="3447098"/>
            <a:ext cx="204522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BD4BA-BEF8-4CB7-AC5B-135C8B2C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3311">
            <a:off x="1352550" y="3447098"/>
            <a:ext cx="225511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730B7-605B-4B5F-9692-0E665FD9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63792">
            <a:off x="1352550" y="3927158"/>
            <a:ext cx="205925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2F914-11BC-4A92-A1B3-38DF0484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2374">
            <a:off x="1352550" y="3927158"/>
            <a:ext cx="19391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93F31-BB8C-4B31-8BB3-3EA1158D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1909">
            <a:off x="1352550" y="3927158"/>
            <a:ext cx="193422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2C705-AE96-4251-976E-D866FD36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1038">
            <a:off x="1352550" y="3927158"/>
            <a:ext cx="204522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2883D-557B-4E1B-966B-0A063DB0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44796">
            <a:off x="1352550" y="4407218"/>
            <a:ext cx="227630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7E106-C235-42CE-A36C-6C4561BC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63792">
            <a:off x="1352550" y="4407218"/>
            <a:ext cx="205925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3C4FEA-56F7-497D-BDD1-54F713A1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2374">
            <a:off x="1352550" y="4407218"/>
            <a:ext cx="19391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C56ECF-0881-4D40-8750-9B19A152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1909">
            <a:off x="1352550" y="4407218"/>
            <a:ext cx="193422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F455D-27BC-4816-9DA1-CA34A963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90064">
            <a:off x="1352550" y="4887278"/>
            <a:ext cx="25658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C247C2-06DB-4D8B-AED6-F0608A7E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44796">
            <a:off x="1352550" y="4887278"/>
            <a:ext cx="227630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DBEE4-25CF-4446-AEBD-857086F9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63792">
            <a:off x="1352550" y="4887278"/>
            <a:ext cx="205925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282E8-DD26-4F32-900B-2C577EC0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2374">
            <a:off x="1352550" y="4887278"/>
            <a:ext cx="19391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3F225-9DC9-42C5-85B3-AE6DC7AB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3888">
            <a:off x="3502819" y="3187065"/>
            <a:ext cx="19714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E56B6-1507-48C0-BBF1-D334802F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35135">
            <a:off x="3502819" y="3187065"/>
            <a:ext cx="21305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07398C-A9FD-4B3D-A210-3F2A857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1556">
            <a:off x="3502819" y="3667125"/>
            <a:ext cx="192208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C0125D-AA79-45F0-B096-AF5FAE1D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3888">
            <a:off x="3502819" y="3667125"/>
            <a:ext cx="19714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293143-1787-4111-B403-4513061D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8599">
            <a:off x="3502819" y="4147185"/>
            <a:ext cx="199079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8265C-7624-4460-A56E-757968CA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1556">
            <a:off x="3502819" y="4147185"/>
            <a:ext cx="192208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FBD497-BBC8-4435-8125-46D1AEC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49673">
            <a:off x="3502819" y="4627245"/>
            <a:ext cx="216634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CA604D-0C58-4F1F-88D1-A73352C2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8599">
            <a:off x="3502819" y="4627245"/>
            <a:ext cx="199079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E4428B-DA43-48E8-AE67-EF3FFF41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348E1F-D508-4E5D-BD0F-B174A9F5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756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86066F-AA69-40D2-80F1-BBA41C2D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762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14C515-38B2-4819-8271-6690CF39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768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DCF8CD-268F-4F31-B3EB-EFD78299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7774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781294-D201-488B-9947-CB6F8EE8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19" y="307752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EEC972-CB5D-4D62-9DD3-57A8B609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19" y="355758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43F1DB-6537-4F14-BF98-94CA15B5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19" y="403764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DA475D-35BC-498A-B716-EF4B760D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19" y="451770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C7BDFE-B1D3-4E39-8B5E-8B80F63F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351758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80AEF3-4F69-4C96-9D84-940AEB94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399764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2700CB-5115-46BE-9DA0-206E206A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1BEC87-1C24-4E9A-9C03-D4E76422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Was wird trainiert?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4B5E37-4222-4137-B24E-D4781D46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Gewichte und Biases. Das Layout bleibt während dieses Trainings fix.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6493AD-6476-41F1-BFF8-C31B98DC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4000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5C3429-0ABB-48E7-9E68-D8D6E6AE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Was beobachtet man?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BA8355-27D2-42A4-A4C6-DB456BB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Loss sollte sinken, Accuracy sollte steigen. Für `concentric_circles` ist dieser Effekt im aktuellen Setup klar sichtbar.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6B3245-0C9D-4828-AA64-5A31174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33950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0BFDB2-0243-4084-B4D4-48355163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8635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= f(w·x + b)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2F8C89-FA90-4398-861F-B776EED0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4830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Aktivierungsfunktion formt das Signal eines Neurons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439B26-BCBA-478C-B22A-7BE368C5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2CD0AD-C859-4204-896E-B33836BB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92264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980271-A47F-4D62-889D-D1C6BCB3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A4E58-1411-4A6A-B7D1-301E69F4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5E7C8-A85A-4197-A005-2FF85200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5CE3D-61B8-4565-A29D-4C0989E3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LAYOUT-BEGRIFF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A03F0-6B73-48F4-9BB5-A55C808B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Ein Layout ist eine konkrete Verteilung von Aktivierungsfunktionen.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95BA3-8EF4-4BC1-9BB1-BBC61232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Startlayout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F0723-4F62-4EA3-BECC-7EF978E1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A08F8-87C6-41E7-B3FF-A0794F34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5F0FD-7258-47C5-9762-95CB8EA9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2B235-3AA8-4541-93D0-290DFA03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A72AD-3DDD-49FA-A128-9B35C5DA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B0EEA-8B45-4EB6-B70C-2ED5678D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FAE8C-6020-422E-923D-15592B5E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D490A-4586-4893-A603-73D04C21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BF622-E08A-4252-8D7D-4BF4C6AB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61ED8-41D9-4E77-A658-3BECB4F2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ReLU · ReLU · ReLU · ReLU · ReLU · ReLU · ReLU · ReLU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A68E-80A2-4FF0-AEA2-C135B3C2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28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Nachbarlayout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F8197-5E71-4D3E-A6BC-1D52AA6C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BF6A6-7D00-4595-ABF1-32A1DF65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57E33-124E-43A1-8D7E-20EC5D68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029CC-21C8-432F-82A0-3BB60E8F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103DB-35AC-444A-AAEA-4C671F8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EB41F-2AD1-4E7A-9015-C019E80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B780D-F131-4DE3-9841-D6E77D74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BBE9D7-E28C-4C40-800A-4D6AC0F4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F7A066-4850-4574-AB41-6ADBDAD8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C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5E125-7BDC-4648-AE5B-1F9E6FC2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ReLU · tanh · ReLU · ReLU · ReLU · ReLU · ReLU · ReLU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66F04-BD53-43E0-89BC-01A92E33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28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Alternatives Ziellayout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9266A-3A60-4BFA-8B5C-6C1C39EF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1CD69B-705E-4444-8980-4DD31B9E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6B0619-9886-488A-B4C5-DAA8CED7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7BF09E-B04B-46BA-99CD-8F304B7B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0AA938-910B-4F88-897E-55976466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6AA795-6221-41E2-85FC-9CFEFF83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5CE7FC-23B5-4043-A180-B0D40446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4FB0B9-5548-4048-8D9D-462FA164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9E6206-3627-441D-B073-C18CF05E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621422-BC0C-4CD7-91F3-D8B6914A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289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swish · swish · swish · swish · swish · swish · swish · swish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D37A59-4437-4E09-9634-8A68CAE8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7A5DF5-8816-48A2-8081-ADDD0D7B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912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 darf kleine Layoutänderungen testen: einzelnes Neuron setzen, Neuronen tauschen, Schicht füllen.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FB864F-AE28-43E0-8277-FC6CE7BD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0AD3F5-CFA4-4F6B-98C6-3C367EED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12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Jeder Kandidat wird kurz trainiert und über Validation Loss bewertet.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9DA379-42C3-4F21-ACA8-090A1809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DAC8E0-D2CA-4264-8249-F3CDBCFC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48250"/>
            <a:ext cx="912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Das beste gefundene Layout wird anschließend noch einmal mit offizieller Trainingsdauer final trainiert.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19BFF4-7C9A-48C0-AB0A-6FE50AFA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6B55FA-1B2F-4D0C-8C05-B7BC7855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63424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6828F1-3070-4A60-8FC5-DC50FDD6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47EE5-F05B-4FB0-8403-72716642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9499E-31EE-443B-A365-0C2EF3D6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4171B-8365-4873-9CC7-A0389775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SA-MECHANIK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9FAEC-70EE-4860-BBAF-38C2EC5C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Simulated Annealing erlaubt kontrollierte schlechte Schritte.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2D2F3-B69A-43CA-A1B9-85E8EE08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9D64F-FEF8-4131-B394-3B57A9D6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A16C5-F05A-4204-9525-31BC453C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aktuelles Layout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D970C-D0EE-4817-A4DE-815ACBDE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78606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14594-0D6E-441B-85C1-7719A9D8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2ADF0-DFC6-44E4-A36F-5D9F56B1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574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Neighbor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EE6B0-1D90-4189-96EA-3D0A2254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kleine Änderung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F8946-71DB-4820-815F-9EDBF522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8606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39431-F463-457B-A320-CE132F6E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D1FA7-5022-4B04-AF23-697933FA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BAA0F-E1F6-4849-860E-7EFE3BD7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kurz trainieren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86F3B-1264-4FC0-A56E-509B1ECC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78606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7E95E-6DEE-45D9-87B2-A758D95E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DDD40-B095-4E3C-A763-2DA12AD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574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349DD-B130-44B1-9C5C-B1601BB5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akzeptieren oder verwerfen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3FA0E-34D9-4575-8274-A02ACA2C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FB9E0-FD39-41E1-BADE-07BBBC0F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5290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 = exp(-Δ / T)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8D0BB-CB0E-45A5-9DBD-4AEB351E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1485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schlechtere Kandidaten können bei hoher Temperatur akzeptiert werden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54ED80-E519-4304-83C0-639DFFEF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73DF2-0EAA-41CA-B929-9C3F6DD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5290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 ↓  ⇒  Exploration 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5D91A-1D0E-4634-8C36-35D61A82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1485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die Suche wird mit der Zeit konservativer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8F7DB6-48FF-42CA-8944-8A053315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431E1-BACA-4CF8-BEBB-ACAF237E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97149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EBEC01-EE7A-460D-95A3-51C82BEF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D67AA-A757-4151-940E-41E609F2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00EC1-6F2D-4498-8FF8-AD2D1EC0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5373E-6EED-4B28-A55F-AA4A74B1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ERGEBNIS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4047D-E06B-42EB-80C1-7EF8B0A9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Die Grid-Baseline zeigt, welche Layouts aktuell stark sind.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3ad6a39a240fa"/>
          <a:stretch xmlns:a="http://schemas.openxmlformats.org/drawingml/2006/main"/>
        </p:blipFill>
        <p:spPr>
          <a:xfrm xmlns:a="http://schemas.openxmlformats.org/drawingml/2006/main">
            <a:off x="819150" y="2095500"/>
            <a:ext cx="68580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E78A2-12DE-4AE0-B036-C86A0911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D9731-FA85-4626-9D0E-0DBC50B8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concentric_circles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DD25D-759A-43EE-A35B-745EAD7D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`all_relu` erreicht ca. 0.897 Test Accuracy und ist der stabile Demo-Case.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9E471-95C7-466B-A7A8-872814B6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4D848-53AB-4509-AD93-35557D98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iris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3CEF5-C8D6-4F91-86BB-7B371BE3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9097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`all_identity` erreicht ca. 0.933 Test Accuracy als starke Mehrklassen-Baseline.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0BA80-E972-48C8-8C21-E1DE005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26618-77BE-4178-B55E-ECB32F30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292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crossing_spirals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6F5A7-7A0E-4E6C-A497-80B83018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721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`all_swish` bleibt nahe Chance. Hier ist zuerst Trainingstuning nötig.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760FB-3988-4471-A461-EEE773D7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1E325-F953-4689-83DF-140D9768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08007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F8E1D2-4D53-4A84-86E9-40C2D0E9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CFE5A-BA99-4AE7-A375-A9A69E44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4429D-14F0-4FEF-863C-8FA4E4DB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1AB85-D214-4572-AA55-162A2C52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ERGEBNIS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8DFED-FED6-47FC-A6D3-233C5968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SA findet bereits brauchbare Layouts, ist aber noch nicht final getunt.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b42587cce40cf"/>
          <a:stretch xmlns:a="http://schemas.openxmlformats.org/drawingml/2006/main"/>
        </p:blipFill>
        <p:spPr>
          <a:xfrm xmlns:a="http://schemas.openxmlformats.org/drawingml/2006/main">
            <a:off x="800100" y="2121958"/>
            <a:ext cx="6762750" cy="375708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23A54-E94F-4551-85D4-113147C1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56110-B58A-48CB-9BBE-8E6F2B1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`concentric_circles`: SA-Best zieht nach finalem Training mit der Grid-Baseline gleich.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3B4A1-9F9A-4823-81C7-5366CD3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6E5BB-6401-4DC4-91AA-DFA258BE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`iris`: SA ist brauchbar, aber noch hinter der besten Grid-Baseline.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F50B8-8186-43EF-BEC0-7F09C777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9C0F9-DA47-4F20-AAB1-532ED126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43350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`crossing_spirals`: aktuelle Ergebnisse bleiben nahe Zufall.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65815-1D8F-447E-8045-372B5C40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3238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8FB23-2A92-4DEB-B5BD-948FC6BF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Search ≠ Final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690D4-7583-4C9B-904E-E3B8AD49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6260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SA-Score bewertet Kandidaten; Test Accuracy bewertet finale Layouts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5FBB4-E102-48CA-927A-73D178B8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60C51-C1D6-4124-9E77-2820278F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22451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7FD73F-4A95-4F3F-A7A7-093E0DD6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35935-F2D9-4F1F-83AE-30718ED4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75922-E3D7-4331-9E3E-BD13717B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73241-9DD9-492A-87FE-B54FA2A4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ERGEBNIS III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F3574-6565-488E-9690-434451E5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Neighborhoods bestimmen, wie gut SA den Suchraum erkundet.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e013838d54b00"/>
          <a:stretch xmlns:a="http://schemas.openxmlformats.org/drawingml/2006/main"/>
        </p:blipFill>
        <p:spPr>
          <a:xfrm xmlns:a="http://schemas.openxmlformats.org/drawingml/2006/main">
            <a:off x="704850" y="2966357"/>
            <a:ext cx="7239000" cy="20682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BF661-2937-45EE-994E-240748E1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106D9-4DB5-425C-BFDE-19A8ABC1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66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Beobachtung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C0B72-E311-4B2A-8C30-D98D6E3D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985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Mehr Operatoren sind mit kleinem Budget nicht automatisch besser.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61B23-F219-46F6-A28A-51D72EFB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5A27F-9629-468F-93B7-F55964BF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480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Didaktische Stärke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5E65D-4B5A-4B57-8537-EA752104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909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Die Operatoren sind gut erklärbar: ein Neuron ändern, Schicht füllen, Neuronen tauschen.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5D341-2917-4749-A15B-3962F87B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10150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C279A-85CF-4680-9505-CDC1605D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81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Nächster Schritt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3D4DE-F6A1-4FF4-9797-7D678EB1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245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Neighborhoods mit final trainierten Bestlayouts vergleichen.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A5644-21DA-4E9C-B777-943F64D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F1071-D345-4E3B-8C19-68014D7F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15255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1C929-1F1A-4CC1-BD48-B02870EC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9510A-7AD0-44AB-B5D8-5EA443AF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67017-DBF9-4FE7-9C9C-47A93A43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E369E-D785-4C0D-90EA-D8820519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EINORDNUNG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0F738-C952-4AB2-B223-126C759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Der aktuelle Stand ist belastbar als Zwischenstand, nicht als Schlussurteil.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DC452-73ED-4F3B-9C89-5688EA46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DF5EF"/>
          </a:solidFill>
          <a:ln xmlns:a="http://schemas.openxmlformats.org/drawingml/2006/main" w="9525">
            <a:solidFill>
              <a:srgbClr val="BED4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0258F-0296-485C-8CA2-D6D9CC6A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Was schon steht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3B54D-C7C8-48F9-8727-50ABECB7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4381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AB027-76BE-4987-9A83-B26A9DDC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3E7C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AEFE0-C94F-45BE-8FD1-57735E84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388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CSV-Benchmark-Suite integriert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DBD59-D2B7-44C6-8063-EA5BA003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3E7C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A6CFC-BBAE-4AF7-8219-59C5637C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388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offizielles AF-Set implementiert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270B0-470C-4877-B449-5C17C1A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3E7C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4DDB7-498C-4D8B-9CBF-09FE1B51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388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Layout-Grid, SA und Neighborhood-Runs reproduzierbar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1525C-46A4-4CFE-9289-90A019A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9525">
            <a:solidFill>
              <a:srgbClr val="3E7C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709C5-43C7-4099-9600-45F5FFC2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388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Report-Artefakte automatisch erzeugbar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64E39-F4A8-4F96-B227-81321736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7EDE3"/>
          </a:solidFill>
          <a:ln xmlns:a="http://schemas.openxmlformats.org/drawingml/2006/main" w="9525">
            <a:solidFill>
              <a:srgbClr val="E6C9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97606-DEAB-49C6-8644-E7E91496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Was noch offen 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0F1BD-F41D-4DF0-A9A1-2A07A3AD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381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5BBEB-8C01-4672-995D-6980B2FA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CF19A-FCCB-44C7-9162-D39DF012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388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SA-Parameter noch systematisch tunen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BBB18-25D1-474F-93D2-6D6B44A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C9989-4AF7-4EFD-82E7-8A129D5D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95650"/>
            <a:ext cx="388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crossing_spirals zuerst im Basistraining verbessern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FBB4A-8CF7-44BD-BAE8-B006860F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34266F-6AED-411E-BE45-8E7AA99B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10000"/>
            <a:ext cx="388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mehr Seeds und Budget für finale Aussagen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EBE2A-BF90-472E-95BD-10A79996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B399F2-B919-4E31-B26E-EEEF7C5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24350"/>
            <a:ext cx="388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Neighborhood-Vergleich mit Finaltraining ergänzen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ECE265-1CDB-41AC-87B0-5A5A6565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D8F3D0-20D0-414C-9F78-FEF05ADD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457516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D50FDA-F43D-4805-9B59-46967699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A435C-671D-464F-A6D1-2F3D8B0D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779A4-1103-4EAC-8E4B-CDB158D1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32"/>
          </a:solidFill>
          <a:ln xmlns:a="http://schemas.openxmlformats.org/drawingml/2006/main" w="9525">
            <a:solidFill>
              <a:srgbClr val="D978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ECEA1-32E6-438E-8985-1BF8A308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832"/>
                </a:solidFill>
                <a:latin typeface="Aptos"/>
                <a:ea typeface="Aptos"/>
                <a:cs typeface="Aptos"/>
              </a:rPr>
              <a:t>VORTRAGSABSCHLUSS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43A08-8815-4219-9CFD-C0A17BD3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Die Demo sollte die Methode zeigen, nicht Überlegenheit behaupten.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b5de723fa499c"/>
          <a:stretch xmlns:a="http://schemas.openxmlformats.org/drawingml/2006/main"/>
        </p:blipFill>
        <p:spPr>
          <a:xfrm xmlns:a="http://schemas.openxmlformats.org/drawingml/2006/main">
            <a:off x="800100" y="2879952"/>
            <a:ext cx="5810250" cy="166007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F5FC3-FCD5-4D9C-A01B-A0F9AA26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DCCF6-9CD0-4FE8-A0A6-E81627B4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Kernsatz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0CEC3-0F5E-423C-A263-A3B4D63E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SA ersetzt nicht Gradient Descent. SA sucht Aktivierungsverteilungen, die danach fair trainiert werden.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3B4AF-5092-4D99-A71B-47DE6D7F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C715E-748D-46A4-8CF9-FBADA24C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Live-Demo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7C58E-EED9-453A-A45C-7AA8443A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767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Start mit `concentric_circles`, dann Layouttraining, dann SA-Schrittlogik, dann Ergebnisvergleich.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5B36B-764E-4BFE-899B-0370E337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E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6A59B-FEC0-4263-B365-256F3DE5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911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Ausblick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BCF08-D0EE-492A-AF13-8566664A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Gezieltes Tuning auf `concentric_circles` und `iris`; `crossing_spirals` als Hard-Case.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43D58-5A0E-49EE-871E-CEF30098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Activation Playground · Simulated Annealing über Aktivierungsfunktionen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C761A-91CA-4766-AB4E-C9F2E483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0295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2026-05-05T11:41:54.2920000Z</dcterms:created>
  <dcterms:modified xsi:type="dcterms:W3CDTF">2026-05-05T11:41:54.2920000Z</dcterms:modified>
</coreProperties>
</file>