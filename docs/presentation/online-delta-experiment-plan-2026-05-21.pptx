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dad72a467ca4651" /><Relationship Type="http://schemas.openxmlformats.org/officeDocument/2006/relationships/extended-properties" Target="/docProps/app.xml" Id="R694384d4b4c04bc5" /><Relationship Type="http://schemas.openxmlformats.org/officeDocument/2006/relationships/officeDocument" Target="/ppt/presentation.xml" Id="R40b91a7cf0b4414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317841b6e784e90"/>
  </p:sldMasterIdLst>
  <p:notesMasterIdLst>
    <p:notesMasterId xmlns:r="http://schemas.openxmlformats.org/officeDocument/2006/relationships" r:id="Re7ac57f34dbd45d2"/>
  </p:notesMasterIdLst>
  <p:sldIdLst>
    <p:sldId xmlns:r="http://schemas.openxmlformats.org/officeDocument/2006/relationships" id="256" r:id="R630e7ed6d7ea4d86"/>
    <p:sldId xmlns:r="http://schemas.openxmlformats.org/officeDocument/2006/relationships" id="257" r:id="R5c6035d684794a9c"/>
    <p:sldId xmlns:r="http://schemas.openxmlformats.org/officeDocument/2006/relationships" id="258" r:id="Red0cd1af25484740"/>
    <p:sldId xmlns:r="http://schemas.openxmlformats.org/officeDocument/2006/relationships" id="259" r:id="Rd97ad28b78324b70"/>
    <p:sldId xmlns:r="http://schemas.openxmlformats.org/officeDocument/2006/relationships" id="260" r:id="R23792fa5ec1c4b70"/>
    <p:sldId xmlns:r="http://schemas.openxmlformats.org/officeDocument/2006/relationships" id="261" r:id="Re89618dda475449d"/>
    <p:sldId xmlns:r="http://schemas.openxmlformats.org/officeDocument/2006/relationships" id="262" r:id="R7e07e0ca08814d75"/>
    <p:sldId xmlns:r="http://schemas.openxmlformats.org/officeDocument/2006/relationships" id="263" r:id="R82b41b83fe6d42cb"/>
    <p:sldId xmlns:r="http://schemas.openxmlformats.org/officeDocument/2006/relationships" id="264" r:id="R2960347591fa474d"/>
    <p:sldId xmlns:r="http://schemas.openxmlformats.org/officeDocument/2006/relationships" id="265" r:id="R65a8e645a1cf4542"/>
    <p:sldId xmlns:r="http://schemas.openxmlformats.org/officeDocument/2006/relationships" id="266" r:id="R3f7308acddac4a52"/>
    <p:sldId xmlns:r="http://schemas.openxmlformats.org/officeDocument/2006/relationships" id="267" r:id="Rb776424335ed488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17841b6e784e90" /><Relationship Type="http://schemas.openxmlformats.org/officeDocument/2006/relationships/theme" Target="/ppt/theme/theme1.xml" Id="Re6d77735ee214dd7" /><Relationship Type="http://schemas.openxmlformats.org/officeDocument/2006/relationships/notesMaster" Target="/ppt/notesMasters/notesMaster1.xml" Id="Re7ac57f34dbd45d2" /><Relationship Type="http://schemas.openxmlformats.org/officeDocument/2006/relationships/presProps" Target="/ppt/presProps.xml" Id="R633332df800b4c67" /><Relationship Type="http://schemas.openxmlformats.org/officeDocument/2006/relationships/viewProps" Target="/ppt/viewProps.xml" Id="R1920c58b9ebf43b3" /><Relationship Type="http://schemas.openxmlformats.org/officeDocument/2006/relationships/tableStyles" Target="/ppt/tableStyles.xml" Id="R9ec296891edb4f70" /><Relationship Type="http://schemas.openxmlformats.org/officeDocument/2006/relationships/slide" Target="/ppt/slides/slide1.xml" Id="R630e7ed6d7ea4d86" /><Relationship Type="http://schemas.openxmlformats.org/officeDocument/2006/relationships/slide" Target="/ppt/slides/slide2.xml" Id="R5c6035d684794a9c" /><Relationship Type="http://schemas.openxmlformats.org/officeDocument/2006/relationships/slide" Target="/ppt/slides/slide3.xml" Id="Red0cd1af25484740" /><Relationship Type="http://schemas.openxmlformats.org/officeDocument/2006/relationships/slide" Target="/ppt/slides/slide4.xml" Id="Rd97ad28b78324b70" /><Relationship Type="http://schemas.openxmlformats.org/officeDocument/2006/relationships/slide" Target="/ppt/slides/slide5.xml" Id="R23792fa5ec1c4b70" /><Relationship Type="http://schemas.openxmlformats.org/officeDocument/2006/relationships/slide" Target="/ppt/slides/slide6.xml" Id="Re89618dda475449d" /><Relationship Type="http://schemas.openxmlformats.org/officeDocument/2006/relationships/slide" Target="/ppt/slides/slide7.xml" Id="R7e07e0ca08814d75" /><Relationship Type="http://schemas.openxmlformats.org/officeDocument/2006/relationships/slide" Target="/ppt/slides/slide8.xml" Id="R82b41b83fe6d42cb" /><Relationship Type="http://schemas.openxmlformats.org/officeDocument/2006/relationships/slide" Target="/ppt/slides/slide9.xml" Id="R2960347591fa474d" /><Relationship Type="http://schemas.openxmlformats.org/officeDocument/2006/relationships/slide" Target="/ppt/slides/slide10.xml" Id="R65a8e645a1cf4542" /><Relationship Type="http://schemas.openxmlformats.org/officeDocument/2006/relationships/slide" Target="/ppt/slides/slide11.xml" Id="R3f7308acddac4a52" /><Relationship Type="http://schemas.openxmlformats.org/officeDocument/2006/relationships/slide" Target="/ppt/slides/slide12.xml" Id="Rb776424335ed488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0a4f47cfdad34a3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4978ef999014f16" /><Relationship Type="http://schemas.openxmlformats.org/officeDocument/2006/relationships/notesMaster" Target="/ppt/notesMasters/notesMaster1.xml" Id="Ra8ed6d7b4c8e4c9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5420832fec6436f" /><Relationship Type="http://schemas.openxmlformats.org/officeDocument/2006/relationships/notesMaster" Target="/ppt/notesMasters/notesMaster1.xml" Id="R109724663eff42e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1231608448b472c" /><Relationship Type="http://schemas.openxmlformats.org/officeDocument/2006/relationships/notesMaster" Target="/ppt/notesMasters/notesMaster1.xml" Id="R012c7da43683495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44ab7c5cba94585" /><Relationship Type="http://schemas.openxmlformats.org/officeDocument/2006/relationships/notesMaster" Target="/ppt/notesMasters/notesMaster1.xml" Id="R45b415b618e1449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202e74c598847d0" /><Relationship Type="http://schemas.openxmlformats.org/officeDocument/2006/relationships/notesMaster" Target="/ppt/notesMasters/notesMaster1.xml" Id="R605fbbe4fa9042c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8fa44fb1f554d98" /><Relationship Type="http://schemas.openxmlformats.org/officeDocument/2006/relationships/notesMaster" Target="/ppt/notesMasters/notesMaster1.xml" Id="Re86bbc3cfa2e436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e31875ac5924504" /><Relationship Type="http://schemas.openxmlformats.org/officeDocument/2006/relationships/notesMaster" Target="/ppt/notesMasters/notesMaster1.xml" Id="R134e86e10508436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f2dd269c8404555" /><Relationship Type="http://schemas.openxmlformats.org/officeDocument/2006/relationships/notesMaster" Target="/ppt/notesMasters/notesMaster1.xml" Id="Rc864f0ad98b9433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cfa2b746a98408e" /><Relationship Type="http://schemas.openxmlformats.org/officeDocument/2006/relationships/notesMaster" Target="/ppt/notesMasters/notesMaster1.xml" Id="R50c0f64ea95d4c8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1df8edb982c4510" /><Relationship Type="http://schemas.openxmlformats.org/officeDocument/2006/relationships/notesMaster" Target="/ppt/notesMasters/notesMaster1.xml" Id="Refbb04731e5f4f2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9ddb5332ccd4b44" /><Relationship Type="http://schemas.openxmlformats.org/officeDocument/2006/relationships/notesMaster" Target="/ppt/notesMasters/notesMaster1.xml" Id="Rfb6364b808f04c9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986ef06812b4cfc" /><Relationship Type="http://schemas.openxmlformats.org/officeDocument/2006/relationships/notesMaster" Target="/ppt/notesMasters/notesMaster1.xml" Id="Re8918bc8d70b46c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1247caf2d84a37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402199da8d864e23" /><Relationship Type="http://schemas.openxmlformats.org/officeDocument/2006/relationships/slideLayout" Target="/ppt/slideLayouts/slideLayout2.xml" Id="Ra8a8128b0fd6415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8a8128b0fd6415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93c2acb0e2c40e7" /><Relationship Type="http://schemas.openxmlformats.org/officeDocument/2006/relationships/notesSlide" Target="/ppt/notesSlides/notesSlide1.xml" Id="Rcec689b621934c7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9b5f31396be489a" /><Relationship Type="http://schemas.openxmlformats.org/officeDocument/2006/relationships/notesSlide" Target="/ppt/notesSlides/notesSlide2.xml" Id="Rc24a1ab7f54d485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b9b3affe9b74be3" /><Relationship Type="http://schemas.openxmlformats.org/officeDocument/2006/relationships/notesSlide" Target="/ppt/notesSlides/notesSlide3.xml" Id="R9559bc132f6c40c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59a4f90b9264fa0" /><Relationship Type="http://schemas.openxmlformats.org/officeDocument/2006/relationships/notesSlide" Target="/ppt/notesSlides/notesSlide4.xml" Id="R5d56a0a4587042e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1155c7979974006" /><Relationship Type="http://schemas.openxmlformats.org/officeDocument/2006/relationships/notesSlide" Target="/ppt/notesSlides/notesSlide5.xml" Id="Rd848148d4ff1472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eba2ea5edad47a7" /><Relationship Type="http://schemas.openxmlformats.org/officeDocument/2006/relationships/notesSlide" Target="/ppt/notesSlides/notesSlide6.xml" Id="R2f1ed96bd3d94cd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e0556f0d5b246d7" /><Relationship Type="http://schemas.openxmlformats.org/officeDocument/2006/relationships/notesSlide" Target="/ppt/notesSlides/notesSlide7.xml" Id="R8bc2b45f3f45404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6828a661f45491a" /><Relationship Type="http://schemas.openxmlformats.org/officeDocument/2006/relationships/notesSlide" Target="/ppt/notesSlides/notesSlide8.xml" Id="Rbc2560769e5441f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9a39516a94b43ee" /><Relationship Type="http://schemas.openxmlformats.org/officeDocument/2006/relationships/notesSlide" Target="/ppt/notesSlides/notesSlide9.xml" Id="R8e0bbefeba0542a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8626d48c9a44ac8" /><Relationship Type="http://schemas.openxmlformats.org/officeDocument/2006/relationships/notesSlide" Target="/ppt/notesSlides/notesSlide10.xml" Id="Ree01cb63897b466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29a2425cc014922" /><Relationship Type="http://schemas.openxmlformats.org/officeDocument/2006/relationships/notesSlide" Target="/ppt/notesSlides/notesSlide11.xml" Id="Rd46c51202447410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f163e12c1564652" /><Relationship Type="http://schemas.openxmlformats.org/officeDocument/2006/relationships/notesSlide" Target="/ppt/notesSlides/notesSlide12.xml" Id="Re1d91f7ffebe460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71F1E02-8217-4F8B-B831-BB2CDC848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FC8064-00E4-4FB9-BC53-2643C3A60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E660E9-7BE5-4FFB-8B1A-3238E54A0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B8A70C-AFC2-4054-9ADA-C59A12CEE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M E T H O D   U P D A T 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76F571-30AF-4151-8E80-DC286ECF1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7239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2A"/>
                </a:solidFill>
                <a:latin typeface="Georgia"/>
                <a:ea typeface="Georgia"/>
                <a:cs typeface="Georgia"/>
              </a:defRPr>
            </a:pPr>
            <a:r>
              <a:rPr sz="3000" b="1">
                <a:solidFill>
                  <a:srgbClr val="17202A"/>
                </a:solidFill>
                <a:latin typeface="Georgia"/>
                <a:ea typeface="Georgia"/>
                <a:cs typeface="Georgia"/>
              </a:rPr>
              <a:t>Activation functions are now a search space, not a fixed design choice.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CB173F-2081-4E81-AD50-005F7F44F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09800"/>
            <a:ext cx="590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We optimize the distribution of activation functions across hidden neurons in small neural networks.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BF19CE-1EF8-4A6D-82FD-77469FEC7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956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99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547C96-EBF5-4D0A-871D-8FB604938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5734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7202A"/>
                </a:solidFill>
                <a:latin typeface="Avenir Next"/>
                <a:ea typeface="Avenir Next"/>
                <a:cs typeface="Avenir Next"/>
              </a:defRPr>
            </a:pPr>
            <a:r>
              <a:rPr sz="1163" b="0">
                <a:solidFill>
                  <a:srgbClr val="17202A"/>
                </a:solidFill>
                <a:latin typeface="Avenir Next"/>
                <a:ea typeface="Avenir Next"/>
                <a:cs typeface="Avenir Next"/>
              </a:rPr>
              <a:t>Gradient descent trains weights for a fixed layout.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A81D49-4DD4-4A38-911A-665CD172F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766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99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AAAE7A-C747-478B-84C8-E06560FED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5734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7202A"/>
                </a:solidFill>
                <a:latin typeface="Avenir Next"/>
                <a:ea typeface="Avenir Next"/>
                <a:cs typeface="Avenir Next"/>
              </a:defRPr>
            </a:pPr>
            <a:r>
              <a:rPr sz="1163" b="0">
                <a:solidFill>
                  <a:srgbClr val="17202A"/>
                </a:solidFill>
                <a:latin typeface="Avenir Next"/>
                <a:ea typeface="Avenir Next"/>
                <a:cs typeface="Avenir Next"/>
              </a:rPr>
              <a:t>Simulated Annealing searches over discrete activation layouts.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0EFED8-BED4-4A18-ADCF-DAD1936B1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576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99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8EF9F3-ADCC-4E0D-B67F-51BF9A184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0000"/>
            <a:ext cx="5734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7202A"/>
                </a:solidFill>
                <a:latin typeface="Avenir Next"/>
                <a:ea typeface="Avenir Next"/>
                <a:cs typeface="Avenir Next"/>
              </a:defRPr>
            </a:pPr>
            <a:r>
              <a:rPr sz="1163" b="0">
                <a:solidFill>
                  <a:srgbClr val="17202A"/>
                </a:solidFill>
                <a:latin typeface="Avenir Next"/>
                <a:ea typeface="Avenir Next"/>
                <a:cs typeface="Avenir Next"/>
              </a:rPr>
              <a:t>Final claims come from retrained multi-seed comparisons.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250049-7A2F-4E94-B55E-0EBF5EE7A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7148" y="2359343"/>
            <a:ext cx="1470184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8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C51E0B-EA38-42CC-B0C7-5B6650948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7148" y="2659380"/>
            <a:ext cx="1470184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8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9282AB-2295-435C-9752-6AD06AEE5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7148" y="2959418"/>
            <a:ext cx="1470184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8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A59F05-8619-4419-9596-C2CF8B6BC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7148" y="3259455"/>
            <a:ext cx="1470184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8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41D8F9-8DD1-433A-B864-F1777EBA2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7354" y="1759268"/>
            <a:ext cx="1470184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8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7D68DE-26FE-41BF-BF26-6A5B90139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7354" y="2059305"/>
            <a:ext cx="1470184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8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5D8F6A-8CCB-46FC-9588-0E6BD7B2E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7354" y="2359343"/>
            <a:ext cx="1470184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8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DC11C8-7E7B-4C29-B407-B812868A2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7354" y="2659380"/>
            <a:ext cx="1470184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8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0C5E61-8C0F-44A2-A18D-0542AF267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7354" y="2959418"/>
            <a:ext cx="1470184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8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615D2B-13BD-4D9F-97E4-37979ACD9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7354" y="3259455"/>
            <a:ext cx="1470184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8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CB44AB-E1A7-4502-B540-000D692E9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7354" y="3559493"/>
            <a:ext cx="1470184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8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8B0A25-4E88-474B-AD7C-BE58F76C1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7354" y="3859530"/>
            <a:ext cx="1470184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8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00F01C-0616-4905-9EE2-E81E9BFAF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269331"/>
            <a:ext cx="180023" cy="18002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8E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CA9641-DAC2-45CF-9595-7A55730F9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569369"/>
            <a:ext cx="180023" cy="18002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8E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22603D7-8854-4ED4-A39E-0CCD71028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869406"/>
            <a:ext cx="180023" cy="18002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8E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C7C77F8-CB7D-49B4-A786-3EA2758A9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169444"/>
            <a:ext cx="180023" cy="18002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8E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4897C31-56DA-4B73-BB5C-98EB1EF40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7083" y="4099560"/>
            <a:ext cx="880110" cy="180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9" b="1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709" b="1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Input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124D23F-7AA3-443B-9EA2-1ECC71DD5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7331" y="1669256"/>
            <a:ext cx="180023" cy="18002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CA5CFFA-661E-462B-924A-78DE401A1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756" y="1697831"/>
            <a:ext cx="237173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48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48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re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BEF3CE8-C149-44C2-A261-3C8DD072E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7331" y="1969294"/>
            <a:ext cx="180023" cy="18002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E7ACF1B-3587-4E3D-9E50-C07A9C70C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756" y="1997869"/>
            <a:ext cx="237173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48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48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ge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065AC45-CADB-4D8C-9E7A-3F498BCF3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7331" y="2269331"/>
            <a:ext cx="180023" cy="18002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994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0259150-9C9E-4584-BA31-CDA62D422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756" y="2297906"/>
            <a:ext cx="237173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48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48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ta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0ED24BA-461A-447B-A1C3-7FCF56094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7331" y="2569369"/>
            <a:ext cx="180023" cy="18002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4A4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DFD3D60-53AA-4724-B54D-DF9FD02DB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756" y="2597944"/>
            <a:ext cx="237173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48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48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sw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0F798A4-19D1-4E88-B30A-5B6EB62CF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7331" y="2869406"/>
            <a:ext cx="180023" cy="18002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EB6D939-2A0F-4552-88F4-C8ED70F7B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756" y="2897981"/>
            <a:ext cx="237173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48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48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si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0806057-3A9B-4E01-B076-BE19789E5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7331" y="3169444"/>
            <a:ext cx="180023" cy="18002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6B56B97-9FAC-401A-A158-BFB7EFCC1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756" y="3198019"/>
            <a:ext cx="237173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48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48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id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A473BE1-0D42-4CE3-B150-8FB4A8F5E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7331" y="3469481"/>
            <a:ext cx="180023" cy="18002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E4C7CF8-EF45-4EFB-A77C-DEFAC76E0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756" y="3498056"/>
            <a:ext cx="237173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48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48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re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30BB3B1-4439-4811-8742-D10A42E17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7331" y="3769519"/>
            <a:ext cx="180023" cy="18002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994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F2B6EF6-0E46-4A6B-8B3C-9DFE167A4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756" y="3798094"/>
            <a:ext cx="237173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48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48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ta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7498049-2CA7-4D6E-8CCE-30958ACF2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7289" y="4099560"/>
            <a:ext cx="880110" cy="180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9" b="1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709" b="1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Hidden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371F332-8B22-4AE4-8243-D78D303E7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7538" y="2419350"/>
            <a:ext cx="180023" cy="18002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994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E8B8761-0966-4191-A461-44C15A824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7538" y="2719388"/>
            <a:ext cx="180023" cy="18002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994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32CAC86-D9B7-4FB4-A5D4-82AE212B1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7538" y="3019425"/>
            <a:ext cx="180023" cy="18002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994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DA28229-F30F-48A8-822A-FB31798A1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7495" y="4099560"/>
            <a:ext cx="880110" cy="180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9" b="1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709" b="1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Output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E8500FB-5962-4C19-AE46-EB28FFE28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66725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EE"/>
          </a:solidFill>
          <a:ln xmlns:a="http://schemas.openxmlformats.org/drawingml/2006/main" w="9525">
            <a:solidFill>
              <a:srgbClr val="2E7D5B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B25FF33-DB74-4C6F-BE3D-763C17389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724400"/>
            <a:ext cx="3238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2E7D5B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2E7D5B"/>
                </a:solidFill>
                <a:latin typeface="Avenir Next"/>
                <a:ea typeface="Avenir Next"/>
                <a:cs typeface="Avenir Next"/>
              </a:rPr>
              <a:t>layout = AF assignment per hidden neuron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A560881-60B0-4175-82D4-6691B6501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435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D96A4F7-16F5-40D3-8799-608838F2F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80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02A"/>
                </a:solidFill>
                <a:latin typeface="Georgia"/>
                <a:ea typeface="Georgia"/>
                <a:cs typeface="Georgia"/>
              </a:defRPr>
            </a:pPr>
            <a:r>
              <a:rPr sz="1875" b="1">
                <a:solidFill>
                  <a:srgbClr val="17202A"/>
                </a:solidFill>
                <a:latin typeface="Georgia"/>
                <a:ea typeface="Georgia"/>
                <a:cs typeface="Georgia"/>
              </a:rPr>
              <a:t>6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DDEF52A-83F7-42EC-A612-7F8EFA063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91225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activation functions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60E3333-9B9E-43D6-80A5-232AF99EC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5435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99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F3701D3-C883-40C2-B30B-74083A5F6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619750"/>
            <a:ext cx="180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02A"/>
                </a:solidFill>
                <a:latin typeface="Georgia"/>
                <a:ea typeface="Georgia"/>
                <a:cs typeface="Georgia"/>
              </a:defRPr>
            </a:pPr>
            <a:r>
              <a:rPr sz="1875" b="1">
                <a:solidFill>
                  <a:srgbClr val="17202A"/>
                </a:solidFill>
                <a:latin typeface="Georgia"/>
                <a:ea typeface="Georgia"/>
                <a:cs typeface="Georgia"/>
              </a:rPr>
              <a:t>3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9EC1EE7-1C58-48E7-AAA9-D5DA85F16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991225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official benchmarks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5A965F1-D384-4409-8128-A80AD6FC0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55435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5CE231D-8BE8-46D9-BC0C-96913247D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5619750"/>
            <a:ext cx="180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02A"/>
                </a:solidFill>
                <a:latin typeface="Georgia"/>
                <a:ea typeface="Georgia"/>
                <a:cs typeface="Georgia"/>
              </a:defRPr>
            </a:pPr>
            <a:r>
              <a:rPr sz="1875" b="1">
                <a:solidFill>
                  <a:srgbClr val="17202A"/>
                </a:solidFill>
                <a:latin typeface="Georgia"/>
                <a:ea typeface="Georgia"/>
                <a:cs typeface="Georgia"/>
              </a:rPr>
              <a:t>10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514841D-6C61-49E8-B489-F7CBAD75D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5991225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planned seeds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7A1EF1D-1CEA-466F-8D19-3F09AABD1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B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82A032C-1403-4D27-96A7-A6585C23D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7810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Wednesday method deck | preliminary experiment plan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88DCCA7-7E94-42F7-99A1-FE04EE4B6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67085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130337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6C006B1-835A-4934-BCF0-99D3C6FD4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B09364-89E0-43C9-90F9-E636D25BA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0A8C0C-6DFD-4540-B0CE-EF8BE5717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011B85-B15D-414F-9F7A-7909CAB5B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I M P L E M E N T A T I O 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E49040-CADF-4D37-A8CB-16DD4A75F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933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7202A"/>
                </a:solidFill>
                <a:latin typeface="Georgia"/>
                <a:ea typeface="Georgia"/>
                <a:cs typeface="Georgia"/>
              </a:rPr>
              <a:t>The implementation separates continuous weight training from discrete layout search.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68E566-89F6-477C-A64A-F0D649C26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14550"/>
            <a:ext cx="4762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B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141876-8526-4E2B-9BB8-D0F798884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14550"/>
            <a:ext cx="4762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A33C9E-8D91-4CDE-8FC0-B29623AF1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8125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2A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17202A"/>
                </a:solidFill>
                <a:latin typeface="Avenir Next"/>
                <a:ea typeface="Avenir Next"/>
                <a:cs typeface="Avenir Next"/>
              </a:rPr>
              <a:t>Weight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FD135E-AF10-45EB-A746-60EBED531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9622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7BDE4E-2AAA-4A97-8779-DD450B9C4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14650"/>
            <a:ext cx="3810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202A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>
                <a:solidFill>
                  <a:srgbClr val="17202A"/>
                </a:solidFill>
                <a:latin typeface="Avenir Next"/>
                <a:ea typeface="Avenir Next"/>
                <a:cs typeface="Avenir Next"/>
              </a:rPr>
              <a:t>Mini-batch gradient descent updates weights and biases.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D58F9B-69E3-410E-A09B-599373CA9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5147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7AEA77-76F8-4BAD-9AC6-8810DA028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467100"/>
            <a:ext cx="3810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202A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>
                <a:solidFill>
                  <a:srgbClr val="17202A"/>
                </a:solidFill>
                <a:latin typeface="Avenir Next"/>
                <a:ea typeface="Avenir Next"/>
                <a:cs typeface="Avenir Next"/>
              </a:rPr>
              <a:t>The activation layout is fixed during a training run.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4D5697-8BAC-4946-8A1D-CF3CEFE9E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671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D532FB-01C2-41E7-A7F4-98E304185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019550"/>
            <a:ext cx="3810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202A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>
                <a:solidFill>
                  <a:srgbClr val="17202A"/>
                </a:solidFill>
                <a:latin typeface="Avenir Next"/>
                <a:ea typeface="Avenir Next"/>
                <a:cs typeface="Avenir Next"/>
              </a:rPr>
              <a:t>Metrics are collected on train / validation / test splits.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FDD353-E21B-41D2-833E-C4CDA44FC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14550"/>
            <a:ext cx="4762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BB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53D2CD-3952-4181-950A-18BF12549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14550"/>
            <a:ext cx="4762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99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0B2565-094D-428E-AEDF-08863EC43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38125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2A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17202A"/>
                </a:solidFill>
                <a:latin typeface="Avenir Next"/>
                <a:ea typeface="Avenir Next"/>
                <a:cs typeface="Avenir Next"/>
              </a:rPr>
              <a:t>Layout search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69691A-F90D-4CC8-8B48-CD56663C4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9622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99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737AF0-0E2E-489D-9F8D-515B96AC8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914650"/>
            <a:ext cx="3810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202A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>
                <a:solidFill>
                  <a:srgbClr val="17202A"/>
                </a:solidFill>
                <a:latin typeface="Avenir Next"/>
                <a:ea typeface="Avenir Next"/>
                <a:cs typeface="Avenir Next"/>
              </a:rPr>
              <a:t>SA proposes local activation-layout changes.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E1247A-9023-4F5C-B4E6-1FA4C77AF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5147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99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D0F492-1302-4F06-9390-11C4B60E8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467100"/>
            <a:ext cx="3810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202A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>
                <a:solidFill>
                  <a:srgbClr val="17202A"/>
                </a:solidFill>
                <a:latin typeface="Avenir Next"/>
                <a:ea typeface="Avenir Next"/>
                <a:cs typeface="Avenir Next"/>
              </a:rPr>
              <a:t>Candidates are evaluated by loss, not test accuracy.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671AF4-3D8B-4BB9-9D29-DEF1915DF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671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99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36A3C7-692D-4D4A-8CF3-D067BF2ED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019550"/>
            <a:ext cx="3810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202A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>
                <a:solidFill>
                  <a:srgbClr val="17202A"/>
                </a:solidFill>
                <a:latin typeface="Avenir Next"/>
                <a:ea typeface="Avenir Next"/>
                <a:cs typeface="Avenir Next"/>
              </a:rPr>
              <a:t>Selected layouts are retrained for final comparison.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54A3A8-DD15-4C29-9397-DBEF64172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724150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B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71A61C-D37D-4CF8-A6D5-D456094B8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524500"/>
            <a:ext cx="371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EE"/>
          </a:solidFill>
          <a:ln xmlns:a="http://schemas.openxmlformats.org/drawingml/2006/main" w="9525">
            <a:solidFill>
              <a:srgbClr val="2E7D5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1F4ADD-D589-47C4-A738-74363E13C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581650"/>
            <a:ext cx="3524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2E7D5B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2E7D5B"/>
                </a:solidFill>
                <a:latin typeface="Avenir Next"/>
                <a:ea typeface="Avenir Next"/>
                <a:cs typeface="Avenir Next"/>
              </a:rPr>
              <a:t>same model core, different optimization target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4D6600F-13CC-46A3-ACAE-84A6A33C2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257800"/>
            <a:ext cx="2343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79A9BA-B0D2-44D0-B255-4F14CF476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41020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7202A"/>
                </a:solidFill>
                <a:latin typeface="Avenir Next"/>
                <a:ea typeface="Avenir Next"/>
                <a:cs typeface="Avenir Next"/>
              </a:rPr>
              <a:t>Implementation anchor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546AA1E-776B-461C-9882-678573221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71500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online_annealing_training_service.py contains the new default SA path.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4F555A0-1010-45D7-8C50-2BD1017C7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B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5AE9FB1-898B-4DBC-A9B4-CE96ABA77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7810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Activation-function layouts with online-delta simulated annealing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D8E7275-1DE7-4EAA-AF19-A1122098D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67085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7455967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6C88384-0401-4593-97A4-155B2384A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7179AF-0C28-4ED0-97F3-17287B8DB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89101C-5814-4D08-8A89-7FFC073FA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C1DAFC-B5FB-4100-BF42-62396AAE5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C A N D I D A T E   E V A L U A T I O 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59A902-9241-480F-A8FB-BDEEFA491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9334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2A"/>
                </a:solidFill>
                <a:latin typeface="Georgia"/>
                <a:ea typeface="Georgia"/>
                <a:cs typeface="Georgia"/>
              </a:defRPr>
            </a:pPr>
            <a:r>
              <a:rPr sz="2625" b="1">
                <a:solidFill>
                  <a:srgbClr val="17202A"/>
                </a:solidFill>
                <a:latin typeface="Georgia"/>
                <a:ea typeface="Georgia"/>
                <a:cs typeface="Georgia"/>
              </a:rPr>
              <a:t>The refined method judges layout changes before retraining the candidate.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EC679E-548C-4D80-9F3C-9D0114BA7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4953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B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4DCB3F-A1AE-42A4-AE04-CB48DD91F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95500"/>
            <a:ext cx="4953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BB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DD9365-1061-40E6-86AB-3A8802390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81250"/>
            <a:ext cx="361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2A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17202A"/>
                </a:solidFill>
                <a:latin typeface="Avenir Next"/>
                <a:ea typeface="Avenir Next"/>
                <a:cs typeface="Avenir Next"/>
              </a:rPr>
              <a:t>Earlier comparison path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683562-8699-47D7-8B80-B1F742EC2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241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2994A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F2994A"/>
                </a:solidFill>
                <a:latin typeface="Avenir Next"/>
                <a:ea typeface="Avenir Next"/>
                <a:cs typeface="Avenir Next"/>
              </a:rPr>
              <a:t>short-retrain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C7A5BE-BA89-4BDB-AC1D-80783ACE7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19450"/>
            <a:ext cx="4000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BB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F10232-C9DE-4CEE-8C31-DEDA8DF47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19450"/>
            <a:ext cx="4000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99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E4FD5D-6328-4FD8-ABE9-FF8F4D530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861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367A3D-2391-433E-BF78-9DB55F06E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381375"/>
            <a:ext cx="3333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7202A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>
                <a:solidFill>
                  <a:srgbClr val="17202A"/>
                </a:solidFill>
                <a:latin typeface="Avenir Next"/>
                <a:ea typeface="Avenir Next"/>
                <a:cs typeface="Avenir Next"/>
              </a:rPr>
              <a:t>Propose layout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2F82DA-6BC7-4B09-BDF2-08DB1F724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638550"/>
            <a:ext cx="33337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810" b="0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Generate a candidate activation assignment.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DB981A-83F7-4D2B-B7C6-0D6134EA8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10050"/>
            <a:ext cx="4000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BB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91C323-45EA-41D4-A6AB-0B5DD6EC2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10050"/>
            <a:ext cx="4000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99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C5AA29-0E50-4551-B8E1-77B896F26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767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B611FA-9DE4-4874-92E5-4DAACF924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371975"/>
            <a:ext cx="3333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7202A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>
                <a:solidFill>
                  <a:srgbClr val="17202A"/>
                </a:solidFill>
                <a:latin typeface="Avenir Next"/>
                <a:ea typeface="Avenir Next"/>
                <a:cs typeface="Avenir Next"/>
              </a:rPr>
              <a:t>Fresh model + short training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E8CAAF-345F-49BB-A2E3-6D194DFDB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629150"/>
            <a:ext cx="33337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810" b="0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Candidate gets a small training budget before scoring.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D3123D-EB9F-4A2B-AECF-AFD9474B1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05425"/>
            <a:ext cx="4000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Useful as a legacy comparison, but the score mixes layout quality with short-training noise.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4CE296-81EF-4588-B860-7DF50DEC0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381250"/>
            <a:ext cx="361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2A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17202A"/>
                </a:solidFill>
                <a:latin typeface="Avenir Next"/>
                <a:ea typeface="Avenir Next"/>
                <a:cs typeface="Avenir Next"/>
              </a:rPr>
              <a:t>Final method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D91DB4-43E2-4B82-A626-4EB21BBB8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7241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80ED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2F80ED"/>
                </a:solidFill>
                <a:latin typeface="Avenir Next"/>
                <a:ea typeface="Avenir Next"/>
                <a:cs typeface="Avenir Next"/>
              </a:rPr>
              <a:t>online-delta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EE8382-0D5D-4F3B-886D-BEEB4B9DC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219450"/>
            <a:ext cx="4000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BB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09BF21-FC75-4AB6-9B2C-6FA7C28F0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219450"/>
            <a:ext cx="4000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73A20A-E9A2-4D66-BEF8-F14B597D2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4861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69F4C5-B0C3-4595-AB3E-F0C5AAF99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81375"/>
            <a:ext cx="3333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7202A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>
                <a:solidFill>
                  <a:srgbClr val="17202A"/>
                </a:solidFill>
                <a:latin typeface="Avenir Next"/>
                <a:ea typeface="Avenir Next"/>
                <a:cs typeface="Avenir Next"/>
              </a:rPr>
              <a:t>Same weights + same batch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7EA92F-64C8-46F5-BB1F-3546EDECB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638550"/>
            <a:ext cx="33337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810" b="0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Evaluate the current network state.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837D308-2D55-4BAD-873D-B2D39A9FC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210050"/>
            <a:ext cx="4000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BB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3DEFF16-5F1D-47E4-AE43-5BA5C0A1B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210050"/>
            <a:ext cx="4000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B4011C1-119C-4632-B013-2D85CA0A2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4767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EE99080-DB43-4C19-8432-9C1F0E09E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371975"/>
            <a:ext cx="3333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7202A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>
                <a:solidFill>
                  <a:srgbClr val="17202A"/>
                </a:solidFill>
                <a:latin typeface="Avenir Next"/>
                <a:ea typeface="Avenir Next"/>
                <a:cs typeface="Avenir Next"/>
              </a:rPr>
              <a:t>Change AF layout only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57D1F1C-E376-4589-8DAC-A0FC37B95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629150"/>
            <a:ext cx="33337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810" b="0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Measure the direct loss delta before training.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47A2129-39D5-47DF-9FCE-B079C6AF8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3149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EE"/>
          </a:solidFill>
          <a:ln xmlns:a="http://schemas.openxmlformats.org/drawingml/2006/main" w="9525">
            <a:solidFill>
              <a:srgbClr val="2E7D5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9A263EC-37C2-48C8-8520-6F86C51C6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372100"/>
            <a:ext cx="3810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2E7D5B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2E7D5B"/>
                </a:solidFill>
                <a:latin typeface="Avenir Next"/>
                <a:ea typeface="Avenir Next"/>
                <a:cs typeface="Avenir Next"/>
              </a:rPr>
              <a:t>Acceptance is based on loss delta; training happens after acceptance.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AF90EE0-3AC0-4DF3-9F59-B70B27D43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B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99440A6-E529-470E-82F7-699736E84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7810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Activation-function layouts with online-delta simulated annealing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B50B124-3BD4-4B77-A3FC-B59C05F3D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67085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1994198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7A97D8-910C-4CEB-8407-7FEB94E4D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C1CDF8-AF1B-4479-AB8C-DD64800E8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8DE1DD-C643-4D69-AA85-D7367B9FD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2D9742-58B0-4821-97DF-166119CAB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O N L I N E - D E L T A   S T E 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969290-11EB-45ED-86E8-90DFFBAE5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2A"/>
                </a:solidFill>
                <a:latin typeface="Georgia"/>
                <a:ea typeface="Georgia"/>
                <a:cs typeface="Georgia"/>
              </a:defRPr>
            </a:pPr>
            <a:r>
              <a:rPr sz="2625" b="1">
                <a:solidFill>
                  <a:srgbClr val="17202A"/>
                </a:solidFill>
                <a:latin typeface="Georgia"/>
                <a:ea typeface="Georgia"/>
                <a:cs typeface="Georgia"/>
              </a:rPr>
              <a:t>One SA step compares loss before and after an activation-layout change.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7A2DFE-9037-4327-8B41-A7BC5B562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B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A68EC3-1A56-4AF8-9253-B215D7385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4000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F59011-1438-4619-B98D-229A7B1C6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B12817-8F62-46D9-8EF8-3592A2450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52675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7202A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>
                <a:solidFill>
                  <a:srgbClr val="17202A"/>
                </a:solidFill>
                <a:latin typeface="Avenir Next"/>
                <a:ea typeface="Avenir Next"/>
                <a:cs typeface="Avenir Next"/>
              </a:rPr>
              <a:t>Evaluate current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846259-4B80-44CF-A302-D8A21E613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609850"/>
            <a:ext cx="17145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810" b="0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loss_before on current mini-batch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E2428D-47A8-4615-BF12-C235F4A36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1907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BB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22B25D-43C0-4D24-AACB-DC72BB595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190750"/>
            <a:ext cx="4000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99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731155-F617-4077-A2F8-0963242C4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4574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0F5C20-9FDC-49F7-9E56-83CA21132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352675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7202A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>
                <a:solidFill>
                  <a:srgbClr val="17202A"/>
                </a:solidFill>
                <a:latin typeface="Avenir Next"/>
                <a:ea typeface="Avenir Next"/>
                <a:cs typeface="Avenir Next"/>
              </a:rPr>
              <a:t>Apply neighbor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D8564A-7DEE-4596-A663-5017486DB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609850"/>
            <a:ext cx="17145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810" b="0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same weights, new activation layout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E677A5-ABF0-4C7C-9A02-99C8135AA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1907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BB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53BB2F-43A7-42D8-A495-B1FA4F995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190750"/>
            <a:ext cx="4000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3E4FE2-C36A-40A2-A88E-C01A84B54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4574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8E6701-6212-4198-9D2C-2EBE9A5BC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52675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7202A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>
                <a:solidFill>
                  <a:srgbClr val="17202A"/>
                </a:solidFill>
                <a:latin typeface="Avenir Next"/>
                <a:ea typeface="Avenir Next"/>
                <a:cs typeface="Avenir Next"/>
              </a:rPr>
              <a:t>Evaluate candidate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883EB0-8F05-4C0A-80D1-F8D0DD986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09850"/>
            <a:ext cx="17145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810" b="0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candidate_loss_after on same mini-batch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CF7924-4848-4CEC-8DB2-0E1E54BBA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907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BB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64757C-9A5C-4BCB-B245-A2BB6D936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90750"/>
            <a:ext cx="4000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A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AD7EC3-30BA-4F74-BCA1-64EDD6519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574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5A7A88-A1C2-4AD4-9427-BE1E4C0E6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352675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7202A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>
                <a:solidFill>
                  <a:srgbClr val="17202A"/>
                </a:solidFill>
                <a:latin typeface="Avenir Next"/>
                <a:ea typeface="Avenir Next"/>
                <a:cs typeface="Avenir Next"/>
              </a:rPr>
              <a:t>Accept / reject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FF0270-4909-42D7-A44E-34ACDE3DD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609850"/>
            <a:ext cx="17145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810" b="0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delta = after - before; p = exp(-delta / T)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286997-180D-4431-B00E-9D1927E48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60985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B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44FE642-F356-41F1-B0EB-64921E902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60985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B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A62DD4-E2BB-4372-A7E0-1CF90F7FF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60985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B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CF75380-2257-42FC-9C67-0EE821920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095750"/>
            <a:ext cx="8001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BB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F09E108-EEAB-4CFD-A10D-2D2F3F4A0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305300"/>
            <a:ext cx="742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A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7202A"/>
                </a:solidFill>
                <a:latin typeface="Avenir Next"/>
                <a:ea typeface="Avenir Next"/>
                <a:cs typeface="Avenir Next"/>
              </a:rPr>
              <a:t>If accepted: keep the candidate layout and train the inherited model on that mini-batch.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B29AA19-240C-4C8F-8D3E-410C697E0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629150"/>
            <a:ext cx="742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If rejected: restore the previous layout and move to the next proposal.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B66A0E2-0A06-450E-8965-2C24284BA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429250"/>
            <a:ext cx="3581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A4C8CFC-B03A-499D-8A55-08C1EFCD7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486400"/>
            <a:ext cx="3390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2F80ED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2F80ED"/>
                </a:solidFill>
                <a:latin typeface="Avenir Next"/>
                <a:ea typeface="Avenir Next"/>
                <a:cs typeface="Avenir Next"/>
              </a:rPr>
              <a:t>Test data is never used during search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B2C5868-E67C-430B-9FA1-CD1A6B628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B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C4F622C-E716-43CC-A211-1F183CB5A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7810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Activation-function layouts with online-delta simulated annealing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B68E7B4-3CF3-4D53-A864-9160F7A4F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67085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6219888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00AA1DF-4711-42C5-8E3A-1D39716F7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CE7FB9-428E-4264-96F7-6D9DF53C9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ED46CC-1BA4-40BA-8851-4D1900BAA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32C323-C35A-458C-BA6D-C4642CDCB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B E N C H M A R K   F R A M 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30C1FD-7430-496F-8082-E35C6B143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8763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2A"/>
                </a:solidFill>
                <a:latin typeface="Georgia"/>
                <a:ea typeface="Georgia"/>
                <a:cs typeface="Georgia"/>
              </a:defRPr>
            </a:pPr>
            <a:r>
              <a:rPr sz="2625" b="1">
                <a:solidFill>
                  <a:srgbClr val="17202A"/>
                </a:solidFill>
                <a:latin typeface="Georgia"/>
                <a:ea typeface="Georgia"/>
                <a:cs typeface="Georgia"/>
              </a:rPr>
              <a:t>The comparison frame is fixed before interpreting any result.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5355BA-36D1-4886-AAAF-EB27579D4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10553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93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2A04DC-0BAA-4DBF-A0DD-2A386870F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00275"/>
            <a:ext cx="1085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Difficulty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F13BB8-0835-4324-A961-CE31771BC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200275"/>
            <a:ext cx="2419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Benchmark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979825-BEB9-4A67-B353-5FDC80D2F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200275"/>
            <a:ext cx="1466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Topology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007B2D-8885-473D-86D5-F26C1C517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00275"/>
            <a:ext cx="1657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Training budget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C61BDD-2513-4CAB-8A4B-204E51F38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200275"/>
            <a:ext cx="3162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Purpose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89D0D7-4949-480D-994F-56581DA2C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09850"/>
            <a:ext cx="10553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CBB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9BAE54-A6FC-46BE-9895-467ABF64B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14625"/>
            <a:ext cx="1085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A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17202A"/>
                </a:solidFill>
                <a:latin typeface="Avenir Next"/>
                <a:ea typeface="Avenir Next"/>
                <a:cs typeface="Avenir Next"/>
              </a:rPr>
              <a:t>Easy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C2C5FC-729B-4BC9-9F0D-130CB7FFD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714625"/>
            <a:ext cx="2419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A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17202A"/>
                </a:solidFill>
                <a:latin typeface="Avenir Next"/>
                <a:ea typeface="Avenir Next"/>
                <a:cs typeface="Avenir Next"/>
              </a:rPr>
              <a:t>concentric_circles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93D2A8-73FD-4A8F-9EA9-0E2B3CB40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714625"/>
            <a:ext cx="1466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A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17202A"/>
                </a:solidFill>
                <a:latin typeface="Avenir Next"/>
                <a:ea typeface="Avenir Next"/>
                <a:cs typeface="Avenir Next"/>
              </a:rPr>
              <a:t>2-8-1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249C94-8AD4-4303-9C6C-ECC1111B3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14625"/>
            <a:ext cx="1657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A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17202A"/>
                </a:solidFill>
                <a:latin typeface="Avenir Next"/>
                <a:ea typeface="Avenir Next"/>
                <a:cs typeface="Avenir Next"/>
              </a:rPr>
              <a:t>100 epochs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4CAAA6-D81A-44FE-9979-BE321ACC2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714625"/>
            <a:ext cx="3162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A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17202A"/>
                </a:solidFill>
                <a:latin typeface="Avenir Next"/>
                <a:ea typeface="Avenir Next"/>
                <a:cs typeface="Avenir Next"/>
              </a:rPr>
              <a:t>sanity check for visible learning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53D3FB-7AD3-47D7-BA12-35C2B37EF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24200"/>
            <a:ext cx="10553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  <a:ln xmlns:a="http://schemas.openxmlformats.org/drawingml/2006/main" w="7620">
            <a:solidFill>
              <a:srgbClr val="D7CBB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86C845-BAD5-4C33-A5B4-BC0AA25B5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28975"/>
            <a:ext cx="1085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A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17202A"/>
                </a:solidFill>
                <a:latin typeface="Avenir Next"/>
                <a:ea typeface="Avenir Next"/>
                <a:cs typeface="Avenir Next"/>
              </a:rPr>
              <a:t>Medium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0C07C2-7C2A-4915-BCAD-0DFB777D4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228975"/>
            <a:ext cx="2419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A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17202A"/>
                </a:solidFill>
                <a:latin typeface="Avenir Next"/>
                <a:ea typeface="Avenir Next"/>
                <a:cs typeface="Avenir Next"/>
              </a:rPr>
              <a:t>iris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7A87D5-3082-4093-8064-BD9EF9D04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228975"/>
            <a:ext cx="1466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A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17202A"/>
                </a:solidFill>
                <a:latin typeface="Avenir Next"/>
                <a:ea typeface="Avenir Next"/>
                <a:cs typeface="Avenir Next"/>
              </a:rPr>
              <a:t>4-8-3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C50BF0-C1C6-44B2-B3CA-1CABD7C25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28975"/>
            <a:ext cx="1657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A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17202A"/>
                </a:solidFill>
                <a:latin typeface="Avenir Next"/>
                <a:ea typeface="Avenir Next"/>
                <a:cs typeface="Avenir Next"/>
              </a:rPr>
              <a:t>150 epochs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DCEE89-47FA-4E8F-A687-91E70D786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228975"/>
            <a:ext cx="3162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A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17202A"/>
                </a:solidFill>
                <a:latin typeface="Avenir Next"/>
                <a:ea typeface="Avenir Next"/>
                <a:cs typeface="Avenir Next"/>
              </a:rPr>
              <a:t>main Wednesday focus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3F0F5E-B1C6-4194-BAE9-C5867D4D3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38550"/>
            <a:ext cx="10553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CBB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B4350B-84A4-482E-8E80-C3775BF66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43325"/>
            <a:ext cx="1085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A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17202A"/>
                </a:solidFill>
                <a:latin typeface="Avenir Next"/>
                <a:ea typeface="Avenir Next"/>
                <a:cs typeface="Avenir Next"/>
              </a:rPr>
              <a:t>Hard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B973EB-FF75-4DE6-B624-82107D853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743325"/>
            <a:ext cx="2419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A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17202A"/>
                </a:solidFill>
                <a:latin typeface="Avenir Next"/>
                <a:ea typeface="Avenir Next"/>
                <a:cs typeface="Avenir Next"/>
              </a:rPr>
              <a:t>crossing_spirals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49246D9-E1C9-409B-8C11-D89DB83CA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43325"/>
            <a:ext cx="1466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A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17202A"/>
                </a:solidFill>
                <a:latin typeface="Avenir Next"/>
                <a:ea typeface="Avenir Next"/>
                <a:cs typeface="Avenir Next"/>
              </a:rPr>
              <a:t>6-16-16-1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1FE8AB9-1E95-4F3F-B6B9-5F4A2757F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743325"/>
            <a:ext cx="1657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A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17202A"/>
                </a:solidFill>
                <a:latin typeface="Avenir Next"/>
                <a:ea typeface="Avenir Next"/>
                <a:cs typeface="Avenir Next"/>
              </a:rPr>
              <a:t>250 epochs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D3CDCF3-6411-46C6-B378-482E8693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743325"/>
            <a:ext cx="3162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A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17202A"/>
                </a:solidFill>
                <a:latin typeface="Avenir Next"/>
                <a:ea typeface="Avenir Next"/>
                <a:cs typeface="Avenir Next"/>
              </a:rPr>
              <a:t>limitation / stress case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BD031B6-77FA-4B5B-AD45-257E99C73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333875"/>
            <a:ext cx="819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EE"/>
          </a:solidFill>
          <a:ln xmlns:a="http://schemas.openxmlformats.org/drawingml/2006/main" w="9525">
            <a:solidFill>
              <a:srgbClr val="2E7D5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B812D7E-17A1-4BF3-84A9-CB1F27D6E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391025"/>
            <a:ext cx="8001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2E7D5B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2E7D5B"/>
                </a:solidFill>
                <a:latin typeface="Avenir Next"/>
                <a:ea typeface="Avenir Next"/>
                <a:cs typeface="Avenir Next"/>
              </a:rPr>
              <a:t>Activation set: relu | gelu | sigmoid | tanh | swish | identity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30FF186-91EC-4F4F-A423-4418AB620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095875"/>
            <a:ext cx="876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CSV benchmark source: Basics Group repository, imported at commit ccb9253e2ccaf2b1d8861f72db10cdba64def6ba.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F1D1C15-6472-4D28-ACDE-DED6B7C25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B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0F5C24F-CB4D-446A-87DC-0990B52A8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7810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Benchmark schema is fixed; test data remains reserved for final reporting.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588F525-EBF3-479A-BBDA-49D2E6066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67085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8370780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E5AC93-2D39-4B15-90D5-9A9647A39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B1DEB5-5419-45AF-801D-12503B2B9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9A8E9E-49AB-46D2-81E5-0D389AD6B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78FFE7-DDDE-464F-8A70-488C4DA29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F I X E D   B U D G E 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255D98-AB43-46CD-80A4-9F7D2B3A3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2A"/>
                </a:solidFill>
                <a:latin typeface="Georgia"/>
                <a:ea typeface="Georgia"/>
                <a:cs typeface="Georgia"/>
              </a:defRPr>
            </a:pPr>
            <a:r>
              <a:rPr sz="2625" b="1">
                <a:solidFill>
                  <a:srgbClr val="17202A"/>
                </a:solidFill>
                <a:latin typeface="Georgia"/>
                <a:ea typeface="Georgia"/>
                <a:cs typeface="Georgia"/>
              </a:rPr>
              <a:t>Hyperparameters define the evaluation budget, not the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9F2459-6A57-4A2A-96FA-3AC26DA37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0"/>
            <a:ext cx="2333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B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D94EA8-22F6-48F0-A495-F8FA24378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622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Seeds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6BCBB0-AF6A-4F40-AB2D-F03BC94A3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00325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2A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7202A"/>
                </a:solidFill>
                <a:latin typeface="Georgia"/>
                <a:ea typeface="Georgia"/>
                <a:cs typeface="Georgia"/>
              </a:rPr>
              <a:t>42-51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A4E10E-DA06-4777-9D9A-87F527014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0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4137AD-7074-4FE0-9C6C-DAD331FB4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190750"/>
            <a:ext cx="2333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BB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40CA43-6CBC-40C6-B2C3-CAF881E38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23622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Learning rate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D37C21-BF12-4097-8C57-841EA2A3D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2600325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2A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7202A"/>
                </a:solidFill>
                <a:latin typeface="Georgia"/>
                <a:ea typeface="Georgia"/>
                <a:cs typeface="Georgia"/>
              </a:rPr>
              <a:t>0.03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30BF6D-A677-4306-8B5F-70ED31FB5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190750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99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10D2E9-AB5C-4CBB-8CA8-307DE3EB0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190750"/>
            <a:ext cx="2333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BB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1618C8-3C3D-416C-A1CF-76365CC9B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3622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Batch size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A4C421-F4CF-4759-BA71-49348C0F2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600325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2A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7202A"/>
                </a:solidFill>
                <a:latin typeface="Georgia"/>
                <a:ea typeface="Georgia"/>
                <a:cs typeface="Georgia"/>
              </a:rPr>
              <a:t>32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CAA483-D661-480F-8D47-AEC56D6E7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190750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E4F71A-370E-4F15-A321-A8D96D9BC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190750"/>
            <a:ext cx="2333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BB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9F4AD3-1BF8-4B83-B1B5-936337EF4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3622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Weight scale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28AF06-AF62-47C4-A5D9-4C271B216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600325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2A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7202A"/>
                </a:solidFill>
                <a:latin typeface="Georgia"/>
                <a:ea typeface="Georgia"/>
                <a:cs typeface="Georgia"/>
              </a:rPr>
              <a:t>0.05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C7E80C-9D50-41C3-9843-B6B6AFAE4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190750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A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999E68-B01A-4CE5-8F61-9772D973F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29000"/>
            <a:ext cx="2333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BB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4EEAFE-3FBC-4387-995B-90315B3EE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0045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SA steps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64E507-556D-447B-8424-B4D06322D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38575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2A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7202A"/>
                </a:solidFill>
                <a:latin typeface="Georgia"/>
                <a:ea typeface="Georgia"/>
                <a:cs typeface="Georgia"/>
              </a:rPr>
              <a:t>200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821D33F-7B8E-463E-9140-7F0084D11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29000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07FDC1-1F53-41BD-9A38-C06EA64EA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429000"/>
            <a:ext cx="2333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BB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3615062-16B9-455A-8113-21BF07473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360045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Start 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48DEBDA-C1DF-400C-A343-AFCD1C80F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3838575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2A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7202A"/>
                </a:solidFill>
                <a:latin typeface="Georgia"/>
                <a:ea typeface="Georgia"/>
                <a:cs typeface="Georgia"/>
              </a:rPr>
              <a:t>0.5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7C7448C-0300-4BB9-8AC0-F1FFA9D9A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429000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99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E7A69AB-E295-4C47-8FB1-EB6171299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2333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BB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C172D04-DBF2-4DBC-B0AC-D32EB41AE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60045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Cooling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F19BAA0-84C9-4AB7-823C-B6D20E25D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838575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2A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7202A"/>
                </a:solidFill>
                <a:latin typeface="Georgia"/>
                <a:ea typeface="Georgia"/>
                <a:cs typeface="Georgia"/>
              </a:rPr>
              <a:t>geometric 0.92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C583DD5-AA32-442C-B0D4-F31F3A569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7684AD1-F5F1-45C5-BAC4-13DCAF52D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429000"/>
            <a:ext cx="2333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BB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6FE8FCB-66D4-414C-BEB0-A1A50F6B8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60045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Policy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A815620-BF42-4FD1-8910-C1F160F6E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838575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2A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7202A"/>
                </a:solidFill>
                <a:latin typeface="Georgia"/>
                <a:ea typeface="Georgia"/>
                <a:cs typeface="Georgia"/>
              </a:rPr>
              <a:t>train accepted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C01634E-C634-4890-8BBB-A2EEA809B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429000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A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7C165C0-151E-49DD-9F14-618FCD235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019675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1AD1530-D98A-456C-A363-3CF432630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095875"/>
            <a:ext cx="180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02A"/>
                </a:solidFill>
                <a:latin typeface="Georgia"/>
                <a:ea typeface="Georgia"/>
                <a:cs typeface="Georgia"/>
              </a:defRPr>
            </a:pPr>
            <a:r>
              <a:rPr sz="1875" b="1">
                <a:solidFill>
                  <a:srgbClr val="17202A"/>
                </a:solidFill>
                <a:latin typeface="Georgia"/>
                <a:ea typeface="Georgia"/>
                <a:cs typeface="Georgia"/>
              </a:rPr>
              <a:t>validation loss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A2D0750-E3DE-4DEC-82CF-1133AC951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46735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search + ranking signal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564A1E3-81DC-4122-ACAC-99BED99C6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019675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99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179585A-300C-42CF-997F-47CF74451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095875"/>
            <a:ext cx="180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02A"/>
                </a:solidFill>
                <a:latin typeface="Georgia"/>
                <a:ea typeface="Georgia"/>
                <a:cs typeface="Georgia"/>
              </a:defRPr>
            </a:pPr>
            <a:r>
              <a:rPr sz="1875" b="1">
                <a:solidFill>
                  <a:srgbClr val="17202A"/>
                </a:solidFill>
                <a:latin typeface="Georgia"/>
                <a:ea typeface="Georgia"/>
                <a:cs typeface="Georgia"/>
              </a:rPr>
              <a:t>test metrics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1066E20-9E06-4E81-9C20-499988F77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46735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final reporting only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A9B947A-A773-486B-B9AB-96D6668D2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219700"/>
            <a:ext cx="3009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EE"/>
          </a:solidFill>
          <a:ln xmlns:a="http://schemas.openxmlformats.org/drawingml/2006/main" w="9525">
            <a:solidFill>
              <a:srgbClr val="2E7D5B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601422F-A0FB-47AC-ACDF-1FDD5BD93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276850"/>
            <a:ext cx="2819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2E7D5B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2E7D5B"/>
                </a:solidFill>
                <a:latin typeface="Avenir Next"/>
                <a:ea typeface="Avenir Next"/>
                <a:cs typeface="Avenir Next"/>
              </a:rPr>
              <a:t>Final claims require mean and standard deviation across seeds.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1D78A61-4C6F-4FFB-B655-734FE7B0A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B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3DC8208-EE03-4016-A6CC-5C09EFAA1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7810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Activation-function layouts with online-delta simulated annealing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84BD262-E465-4DA2-A3A9-38A4D1534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67085"/>
                </a:solidFill>
                <a:latin typeface="Georgia"/>
                <a:ea typeface="Georgia"/>
                <a:cs typeface="Georgia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3346531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FAF80FF-C382-4B06-81E0-D47D104D6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59F1B3-3582-4160-B1D9-C46C19F5D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86D5FC-B261-4107-80E0-10A0453F5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B43820-9535-4E0A-85ED-FDF48B9EB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E 1   B A S E L I N 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FC1F91-A283-4636-86D7-C4BCD2D26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9334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7202A"/>
                </a:solidFill>
                <a:latin typeface="Georgia"/>
                <a:ea typeface="Georgia"/>
                <a:cs typeface="Georgia"/>
              </a:rPr>
              <a:t>E1 establishes how strong each single activation function is without SA.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AB2503-1E3D-46AE-9213-4F08C9631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19300"/>
            <a:ext cx="105537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93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FE15D2-F60D-4BFB-845D-57A8C5D42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24075"/>
            <a:ext cx="9429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Experiment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D8BAD0-A4AC-4563-8DBB-B273E541B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2124075"/>
            <a:ext cx="1276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Benchmarks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6877A2-898D-4EDA-BCA8-106F09564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124075"/>
            <a:ext cx="3562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Layouts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DE9A97-29B4-4AC7-9A72-CAC43C1B1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2124075"/>
            <a:ext cx="800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Seeds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2AEAD9-18CC-42C9-961E-ECEF67518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124075"/>
            <a:ext cx="32099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Main question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BD7D26-A080-4375-8E45-17BC1A8E7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14600"/>
            <a:ext cx="105537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CBB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030651-7580-474A-806D-B0684EDDA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19375"/>
            <a:ext cx="9429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A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17202A"/>
                </a:solidFill>
                <a:latin typeface="Avenir Next"/>
                <a:ea typeface="Avenir Next"/>
                <a:cs typeface="Avenir Next"/>
              </a:rPr>
              <a:t>E1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0A57DC-82DB-4FF5-AAC3-1B1D97615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2619375"/>
            <a:ext cx="1276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A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17202A"/>
                </a:solidFill>
                <a:latin typeface="Avenir Next"/>
                <a:ea typeface="Avenir Next"/>
                <a:cs typeface="Avenir Next"/>
              </a:rPr>
              <a:t>all 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BFEB0D-0CA0-45CF-9DBF-0C745827A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619375"/>
            <a:ext cx="3562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A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17202A"/>
                </a:solidFill>
                <a:latin typeface="Avenir Next"/>
                <a:ea typeface="Avenir Next"/>
                <a:cs typeface="Avenir Next"/>
              </a:rPr>
              <a:t>all_relu, all_gelu, all_sigmoid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CC4B9A-0471-45DD-8B9D-47062173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2619375"/>
            <a:ext cx="800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A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17202A"/>
                </a:solidFill>
                <a:latin typeface="Avenir Next"/>
                <a:ea typeface="Avenir Next"/>
                <a:cs typeface="Avenir Next"/>
              </a:rPr>
              <a:t>10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2DBF11-C865-49DE-ACF9-4FCFC2940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619375"/>
            <a:ext cx="32099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A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17202A"/>
                </a:solidFill>
                <a:latin typeface="Avenir Next"/>
                <a:ea typeface="Avenir Next"/>
                <a:cs typeface="Avenir Next"/>
              </a:rPr>
              <a:t>Which single AF works best per benchmark?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C2224D-9432-4E45-8041-5A0FA2AD4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09900"/>
            <a:ext cx="105537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  <a:ln xmlns:a="http://schemas.openxmlformats.org/drawingml/2006/main" w="7620">
            <a:solidFill>
              <a:srgbClr val="D7CBB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31E98D-A25E-48E1-B591-D5D583DE4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14675"/>
            <a:ext cx="9429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464377-6758-4243-8034-458A9D0C1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114675"/>
            <a:ext cx="1276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6A4727-EF00-44EA-AB97-841E8F505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114675"/>
            <a:ext cx="3562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A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17202A"/>
                </a:solidFill>
                <a:latin typeface="Avenir Next"/>
                <a:ea typeface="Avenir Next"/>
                <a:cs typeface="Avenir Next"/>
              </a:rPr>
              <a:t>all_tanh, all_swish, all_identity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7791D7-B0E0-4617-A1B8-C85C00DAC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3114675"/>
            <a:ext cx="800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A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17202A"/>
                </a:solidFill>
                <a:latin typeface="Avenir Next"/>
                <a:ea typeface="Avenir Next"/>
                <a:cs typeface="Avenir Next"/>
              </a:rPr>
              <a:t>10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63F2B5-F444-40E4-A206-31D4EAD66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114675"/>
            <a:ext cx="32099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A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17202A"/>
                </a:solidFill>
                <a:latin typeface="Avenir Next"/>
                <a:ea typeface="Avenir Next"/>
                <a:cs typeface="Avenir Next"/>
              </a:rPr>
              <a:t>How strong is the non-SA baseline?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F073F2-CA25-4616-B94E-0D416A349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905250"/>
            <a:ext cx="9182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93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144E2C-2881-41F5-A74A-3D1145D65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010025"/>
            <a:ext cx="2133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Metric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A1B3A7-91D7-4F75-BECD-D2B8BE024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010025"/>
            <a:ext cx="6743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Why it matters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6104093-85B7-4970-9CCC-0AF55BA57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305300"/>
            <a:ext cx="9182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CBB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0522A64-AC4B-4BD4-B980-AF99BEB1F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410075"/>
            <a:ext cx="2133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2A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17202A"/>
                </a:solidFill>
                <a:latin typeface="Avenir Next"/>
                <a:ea typeface="Avenir Next"/>
                <a:cs typeface="Avenir Next"/>
              </a:rPr>
              <a:t>mean_val_loss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37D0459-DC72-46C2-B863-135FB1F5C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410075"/>
            <a:ext cx="6743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2A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17202A"/>
                </a:solidFill>
                <a:latin typeface="Avenir Next"/>
                <a:ea typeface="Avenir Next"/>
                <a:cs typeface="Avenir Next"/>
              </a:rPr>
              <a:t>primary model-selection metric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733C410-85E9-4EA7-A515-2D73E90B9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705350"/>
            <a:ext cx="9182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  <a:ln xmlns:a="http://schemas.openxmlformats.org/drawingml/2006/main" w="7620">
            <a:solidFill>
              <a:srgbClr val="D7CBB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ACF0FDF-9AF7-4803-8CA3-A0E7B188E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810125"/>
            <a:ext cx="2133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2A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17202A"/>
                </a:solidFill>
                <a:latin typeface="Avenir Next"/>
                <a:ea typeface="Avenir Next"/>
                <a:cs typeface="Avenir Next"/>
              </a:rPr>
              <a:t>std_val_loss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94E727C-0DA0-4936-961A-1A4CA6CE5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810125"/>
            <a:ext cx="6743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2A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17202A"/>
                </a:solidFill>
                <a:latin typeface="Avenir Next"/>
                <a:ea typeface="Avenir Next"/>
                <a:cs typeface="Avenir Next"/>
              </a:rPr>
              <a:t>stability across seeds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AAA3250-21B3-4374-B9D0-81E3D631F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105400"/>
            <a:ext cx="9182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CBB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3310080-17B4-4317-87F9-F8ABB2A54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210175"/>
            <a:ext cx="2133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2A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17202A"/>
                </a:solidFill>
                <a:latin typeface="Avenir Next"/>
                <a:ea typeface="Avenir Next"/>
                <a:cs typeface="Avenir Next"/>
              </a:rPr>
              <a:t>mean_test_loss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84CEE7E-7B64-4B8E-8383-B71CF6FFA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210175"/>
            <a:ext cx="6743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2A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17202A"/>
                </a:solidFill>
                <a:latin typeface="Avenir Next"/>
                <a:ea typeface="Avenir Next"/>
                <a:cs typeface="Avenir Next"/>
              </a:rPr>
              <a:t>final generalization error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9D96C50-5E1A-4511-B3E7-5AABF88A8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505450"/>
            <a:ext cx="9182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  <a:ln xmlns:a="http://schemas.openxmlformats.org/drawingml/2006/main" w="7620">
            <a:solidFill>
              <a:srgbClr val="D7CBB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BF3C93F-0C74-4244-BF8F-319E59E56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610225"/>
            <a:ext cx="2133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2A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17202A"/>
                </a:solidFill>
                <a:latin typeface="Avenir Next"/>
                <a:ea typeface="Avenir Next"/>
                <a:cs typeface="Avenir Next"/>
              </a:rPr>
              <a:t>mean_test_accuracy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9740F3C-2244-4E38-A0BD-4190DA5A7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610225"/>
            <a:ext cx="6743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2A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17202A"/>
                </a:solidFill>
                <a:latin typeface="Avenir Next"/>
                <a:ea typeface="Avenir Next"/>
                <a:cs typeface="Avenir Next"/>
              </a:rPr>
              <a:t>readable final performance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CEFBD92-EF18-4AF8-98CF-BB763B763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5857875"/>
            <a:ext cx="411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2"/>
          </a:solidFill>
          <a:ln xmlns:a="http://schemas.openxmlformats.org/drawingml/2006/main" w="9525">
            <a:solidFill>
              <a:srgbClr val="F2994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F9D3BC2-E5BB-46EA-B0D1-F1FFB0A9B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5915025"/>
            <a:ext cx="3924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2994A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F2994A"/>
                </a:solidFill>
                <a:latin typeface="Avenir Next"/>
                <a:ea typeface="Avenir Next"/>
                <a:cs typeface="Avenir Next"/>
              </a:rPr>
              <a:t>Without E1, SA results have no fair baseline.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37B3C39-991E-4F99-B3D6-8D0962ECA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B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3609FE0-1A7A-4124-83C8-CB5536889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7810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Activation-function layouts with online-delta simulated annealing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11F9DE8-0513-4BAA-99A5-FE1978EE6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67085"/>
                </a:solidFill>
                <a:latin typeface="Georgia"/>
                <a:ea typeface="Georgia"/>
                <a:cs typeface="Georgia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82946138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DE22A83-1044-4F76-A511-91D34C8FB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B05E9A-5052-44E6-86E1-73AAF2231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1E8A53-F2D3-441F-AF03-4593016DB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E7EB64-95D4-433D-8DA3-24107D511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E 2   R A N D O M   B A S E L I N 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6B2F40-8CFD-46E4-80B7-8C9937B5F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8953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2A"/>
                </a:solidFill>
                <a:latin typeface="Georgia"/>
                <a:ea typeface="Georgia"/>
                <a:cs typeface="Georgia"/>
              </a:defRPr>
            </a:pPr>
            <a:r>
              <a:rPr sz="2625" b="1">
                <a:solidFill>
                  <a:srgbClr val="17202A"/>
                </a:solidFill>
                <a:latin typeface="Georgia"/>
                <a:ea typeface="Georgia"/>
                <a:cs typeface="Georgia"/>
              </a:rPr>
              <a:t>E2 checks whether mixed random layouts are already competitive.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C9F881-1F42-4FCF-867C-7BCD84779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38375"/>
            <a:ext cx="10096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B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A4B815-F2DC-4889-9978-BB4FACFDF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5717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17202A"/>
                </a:solidFill>
                <a:latin typeface="Avenir Next"/>
                <a:ea typeface="Avenir Next"/>
                <a:cs typeface="Avenir Next"/>
              </a:rPr>
              <a:t>10 random layouts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763BAF-0235-4DDF-89D0-767532CD4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571750"/>
            <a:ext cx="28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91003E-DB8D-41EA-A409-AD4ECF708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5717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17202A"/>
                </a:solidFill>
                <a:latin typeface="Avenir Next"/>
                <a:ea typeface="Avenir Next"/>
                <a:cs typeface="Avenir Next"/>
              </a:rPr>
              <a:t>10 training seeds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FA00C2-D7A7-4B0A-9206-9753F3953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571750"/>
            <a:ext cx="28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x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43D29B-4C65-4B2C-BA51-1139B9E59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717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17202A"/>
                </a:solidFill>
                <a:latin typeface="Avenir Next"/>
                <a:ea typeface="Avenir Next"/>
                <a:cs typeface="Avenir Next"/>
              </a:rPr>
              <a:t>3 benchmarks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113CCC-C60A-44EC-9BF9-8C5B25136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295650"/>
            <a:ext cx="4191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6003F4-AA7B-45B0-A54F-C27918610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295650"/>
            <a:ext cx="4191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ABEB95-4B44-4901-9520-01C4A5A15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95650"/>
            <a:ext cx="4191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99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981FD5-881C-4E89-9D49-55EA6658D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295650"/>
            <a:ext cx="4191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A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A4F8D3-15D3-43F3-A73D-D3C42DA84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295650"/>
            <a:ext cx="4191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D46111-6482-45CE-8EA7-E0CB04BEF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295650"/>
            <a:ext cx="4191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E7B8B8-A4E1-4EC1-BED3-46286EF75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295650"/>
            <a:ext cx="4191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C1FCCD-3E8E-430B-B9D9-4AC5B52AA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95650"/>
            <a:ext cx="4191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B15359-3218-4E93-A326-9E8E7907E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295650"/>
            <a:ext cx="4191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99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3DFEAE-371D-4934-8A07-0BE775DDF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295650"/>
            <a:ext cx="4191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A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EB2549-81C4-49AD-B7E5-56E8B4D6F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562350"/>
            <a:ext cx="4191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1BB9D9-E6D7-4E04-A4F3-12173C9C7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562350"/>
            <a:ext cx="4191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10CBA7-E798-4F25-A2C4-0D9B4EA01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562350"/>
            <a:ext cx="4191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9CE7CE-AAF5-4EBE-9045-992301EC0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562350"/>
            <a:ext cx="4191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5A6BB8-B7D8-4CB6-AEE2-9B0BC5B45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562350"/>
            <a:ext cx="4191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99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28A2B32-FF78-409C-8744-9545E8320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562350"/>
            <a:ext cx="4191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A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186C079-1D33-4A51-9B08-F00349916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562350"/>
            <a:ext cx="4191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96A3C8F-64DF-46F5-8ADB-92A5D8B9B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62350"/>
            <a:ext cx="4191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7EE5793-DE1A-4F0E-A1D1-BA394E21F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562350"/>
            <a:ext cx="4191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FED2E52-6D06-4E1B-8637-1AAF79414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562350"/>
            <a:ext cx="4191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7CB437D-8FFF-4D37-B05E-F20671C9C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829050"/>
            <a:ext cx="4191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99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75FA1E8-189B-4FC2-8074-2167AE82B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829050"/>
            <a:ext cx="4191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A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623AD4E-75B7-4884-972C-D392EC289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829050"/>
            <a:ext cx="4191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B405830-1BE0-4C62-AC19-4F1A8E200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829050"/>
            <a:ext cx="4191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3E3B422-3451-4463-BA53-9DD869C30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829050"/>
            <a:ext cx="4191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778443B-DF73-4627-903F-367FD4420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829050"/>
            <a:ext cx="4191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3FF9FE6-8A68-49E7-8822-3EB518EB1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829050"/>
            <a:ext cx="4191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99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743DA2F-F67C-4480-98C6-1C0AD2859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29050"/>
            <a:ext cx="4191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A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48EBD21-1240-4449-8ED7-E6CAE9C0F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829050"/>
            <a:ext cx="4191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A9E6893-DCEB-47A8-89A2-C1666F67E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829050"/>
            <a:ext cx="4191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72E5F1A-C596-4E48-9FD6-34A4358A2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762500"/>
            <a:ext cx="5753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EE"/>
          </a:solidFill>
          <a:ln xmlns:a="http://schemas.openxmlformats.org/drawingml/2006/main" w="9525">
            <a:solidFill>
              <a:srgbClr val="2E7D5B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29E2C2B-23C5-4225-8ACC-8535184EE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819650"/>
            <a:ext cx="5562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2E7D5B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2E7D5B"/>
                </a:solidFill>
                <a:latin typeface="Avenir Next"/>
                <a:ea typeface="Avenir Next"/>
                <a:cs typeface="Avenir Next"/>
              </a:rPr>
              <a:t>Random baseline answers: is SA better than just mixing AFs?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2E810A8-E012-4A31-95A4-D91F4A50E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429250"/>
            <a:ext cx="7924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Report both the average random layout and the best random layout; otherwise a single lucky random sample can mislead.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0DD6F73-F6B7-4173-9EEA-288173D7C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B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144F2EE-9BF4-4B1E-B665-590ED532F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7810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Activation-function layouts with online-delta simulated annealing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4C40378-0F94-4C51-BE0C-B697E7901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67085"/>
                </a:solidFill>
                <a:latin typeface="Georgia"/>
                <a:ea typeface="Georgia"/>
                <a:cs typeface="Georgia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13670165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29E7F33-9A12-479E-A387-DC458F20A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2CFFF7-46B2-4ED8-B430-8B62CFAB7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FB11AD-801E-473E-8902-9990A72F6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057A69-0538-4C90-A1E7-0BAF26D90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E 3 - E 7   O N L I N E - D E L T 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3FFB40-3EC8-4288-9E58-E15EEA8D7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9334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7202A"/>
                </a:solidFill>
                <a:latin typeface="Georgia"/>
                <a:ea typeface="Georgia"/>
                <a:cs typeface="Georgia"/>
              </a:rPr>
              <a:t>E3-E7 test whether online-delta SA improves five start conditions.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E2433E-6527-42A4-BE76-106399E0F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10820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93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89A8B1-C9CE-4253-B10D-A1E81FE35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85975"/>
            <a:ext cx="609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ID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AB724D-BB20-44D9-A54C-CBEDEB34D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085975"/>
            <a:ext cx="2038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Start layout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32AE6F-740B-42A2-A73D-6385265C2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85975"/>
            <a:ext cx="1657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SA mode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7D7C81-F386-46D3-9905-2917537DB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085975"/>
            <a:ext cx="590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Final comparison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5B430F-6622-4BE0-9A3D-02197530C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10820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CBB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BD84D7-3812-4FE3-AF01-6B08ABAB4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66975"/>
            <a:ext cx="609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202A"/>
                </a:solidFill>
                <a:latin typeface="Avenir Next"/>
                <a:ea typeface="Avenir Next"/>
                <a:cs typeface="Avenir Next"/>
              </a:defRPr>
            </a:pPr>
            <a:r>
              <a:rPr sz="915" b="0">
                <a:solidFill>
                  <a:srgbClr val="17202A"/>
                </a:solidFill>
                <a:latin typeface="Avenir Next"/>
                <a:ea typeface="Avenir Next"/>
                <a:cs typeface="Avenir Next"/>
              </a:rPr>
              <a:t>E3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399FA6-B4A9-45EF-968E-E415F8728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466975"/>
            <a:ext cx="2038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202A"/>
                </a:solidFill>
                <a:latin typeface="Avenir Next"/>
                <a:ea typeface="Avenir Next"/>
                <a:cs typeface="Avenir Next"/>
              </a:defRPr>
            </a:pPr>
            <a:r>
              <a:rPr sz="915" b="0">
                <a:solidFill>
                  <a:srgbClr val="17202A"/>
                </a:solidFill>
                <a:latin typeface="Avenir Next"/>
                <a:ea typeface="Avenir Next"/>
                <a:cs typeface="Avenir Next"/>
              </a:rPr>
              <a:t>all_relu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A2A36E-3217-4C44-85DB-758467A51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466975"/>
            <a:ext cx="1657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202A"/>
                </a:solidFill>
                <a:latin typeface="Avenir Next"/>
                <a:ea typeface="Avenir Next"/>
                <a:cs typeface="Avenir Next"/>
              </a:defRPr>
            </a:pPr>
            <a:r>
              <a:rPr sz="915" b="0">
                <a:solidFill>
                  <a:srgbClr val="17202A"/>
                </a:solidFill>
                <a:latin typeface="Avenir Next"/>
                <a:ea typeface="Avenir Next"/>
                <a:cs typeface="Avenir Next"/>
              </a:rPr>
              <a:t>online_delta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737B59-4E71-4EC4-93D7-49878BD04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466975"/>
            <a:ext cx="590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202A"/>
                </a:solidFill>
                <a:latin typeface="Avenir Next"/>
                <a:ea typeface="Avenir Next"/>
                <a:cs typeface="Avenir Next"/>
              </a:defRPr>
            </a:pPr>
            <a:r>
              <a:rPr sz="915" b="0">
                <a:solidFill>
                  <a:srgbClr val="17202A"/>
                </a:solidFill>
                <a:latin typeface="Avenir Next"/>
                <a:ea typeface="Avenir Next"/>
                <a:cs typeface="Avenir Next"/>
              </a:rPr>
              <a:t>start vs best SA vs end SA vs baselines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AA4B64-06C6-4656-91B3-02C4B6682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0820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  <a:ln xmlns:a="http://schemas.openxmlformats.org/drawingml/2006/main" w="7620">
            <a:solidFill>
              <a:srgbClr val="D7CBB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81375A-F685-4A21-B00B-2C76192CE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47975"/>
            <a:ext cx="609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202A"/>
                </a:solidFill>
                <a:latin typeface="Avenir Next"/>
                <a:ea typeface="Avenir Next"/>
                <a:cs typeface="Avenir Next"/>
              </a:defRPr>
            </a:pPr>
            <a:r>
              <a:rPr sz="915" b="0">
                <a:solidFill>
                  <a:srgbClr val="17202A"/>
                </a:solidFill>
                <a:latin typeface="Avenir Next"/>
                <a:ea typeface="Avenir Next"/>
                <a:cs typeface="Avenir Next"/>
              </a:rPr>
              <a:t>E4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9AAD94-D9D3-4A06-A0CD-BA8B236AD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847975"/>
            <a:ext cx="2038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202A"/>
                </a:solidFill>
                <a:latin typeface="Avenir Next"/>
                <a:ea typeface="Avenir Next"/>
                <a:cs typeface="Avenir Next"/>
              </a:defRPr>
            </a:pPr>
            <a:r>
              <a:rPr sz="915" b="0">
                <a:solidFill>
                  <a:srgbClr val="17202A"/>
                </a:solidFill>
                <a:latin typeface="Avenir Next"/>
                <a:ea typeface="Avenir Next"/>
                <a:cs typeface="Avenir Next"/>
              </a:rPr>
              <a:t>all_tanh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2EDBEB-6D21-4B9E-B37B-99A681137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47975"/>
            <a:ext cx="1657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202A"/>
                </a:solidFill>
                <a:latin typeface="Avenir Next"/>
                <a:ea typeface="Avenir Next"/>
                <a:cs typeface="Avenir Next"/>
              </a:defRPr>
            </a:pPr>
            <a:r>
              <a:rPr sz="915" b="0">
                <a:solidFill>
                  <a:srgbClr val="17202A"/>
                </a:solidFill>
                <a:latin typeface="Avenir Next"/>
                <a:ea typeface="Avenir Next"/>
                <a:cs typeface="Avenir Next"/>
              </a:rPr>
              <a:t>online_delta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81A3EE-30BC-4EDE-BF96-BE6B465FE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847975"/>
            <a:ext cx="590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202A"/>
                </a:solidFill>
                <a:latin typeface="Avenir Next"/>
                <a:ea typeface="Avenir Next"/>
                <a:cs typeface="Avenir Next"/>
              </a:defRPr>
            </a:pPr>
            <a:r>
              <a:rPr sz="915" b="0">
                <a:solidFill>
                  <a:srgbClr val="17202A"/>
                </a:solidFill>
                <a:latin typeface="Avenir Next"/>
                <a:ea typeface="Avenir Next"/>
                <a:cs typeface="Avenir Next"/>
              </a:rPr>
              <a:t>same final evaluation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9F4852-EA06-43F7-A750-8EF704383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10820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CBB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5DFAE5-ED18-43E9-8F18-04B2D7657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28975"/>
            <a:ext cx="609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202A"/>
                </a:solidFill>
                <a:latin typeface="Avenir Next"/>
                <a:ea typeface="Avenir Next"/>
                <a:cs typeface="Avenir Next"/>
              </a:defRPr>
            </a:pPr>
            <a:r>
              <a:rPr sz="915" b="0">
                <a:solidFill>
                  <a:srgbClr val="17202A"/>
                </a:solidFill>
                <a:latin typeface="Avenir Next"/>
                <a:ea typeface="Avenir Next"/>
                <a:cs typeface="Avenir Next"/>
              </a:rPr>
              <a:t>E5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4FCEE7-EE2D-44AA-AF71-211BB744F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28975"/>
            <a:ext cx="2038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202A"/>
                </a:solidFill>
                <a:latin typeface="Avenir Next"/>
                <a:ea typeface="Avenir Next"/>
                <a:cs typeface="Avenir Next"/>
              </a:defRPr>
            </a:pPr>
            <a:r>
              <a:rPr sz="915" b="0">
                <a:solidFill>
                  <a:srgbClr val="17202A"/>
                </a:solidFill>
                <a:latin typeface="Avenir Next"/>
                <a:ea typeface="Avenir Next"/>
                <a:cs typeface="Avenir Next"/>
              </a:rPr>
              <a:t>all_sigmoid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F1B2BA-E738-4387-AC57-2F2877741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228975"/>
            <a:ext cx="1657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202A"/>
                </a:solidFill>
                <a:latin typeface="Avenir Next"/>
                <a:ea typeface="Avenir Next"/>
                <a:cs typeface="Avenir Next"/>
              </a:defRPr>
            </a:pPr>
            <a:r>
              <a:rPr sz="915" b="0">
                <a:solidFill>
                  <a:srgbClr val="17202A"/>
                </a:solidFill>
                <a:latin typeface="Avenir Next"/>
                <a:ea typeface="Avenir Next"/>
                <a:cs typeface="Avenir Next"/>
              </a:rPr>
              <a:t>online_delta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6C8DA3-7071-410A-B121-909C500A9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228975"/>
            <a:ext cx="590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202A"/>
                </a:solidFill>
                <a:latin typeface="Avenir Next"/>
                <a:ea typeface="Avenir Next"/>
                <a:cs typeface="Avenir Next"/>
              </a:defRPr>
            </a:pPr>
            <a:r>
              <a:rPr sz="915" b="0">
                <a:solidFill>
                  <a:srgbClr val="17202A"/>
                </a:solidFill>
                <a:latin typeface="Avenir Next"/>
                <a:ea typeface="Avenir Next"/>
                <a:cs typeface="Avenir Next"/>
              </a:rPr>
              <a:t>can SA escape a weak saturating baseline?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B39780-44C4-46E9-8594-CDB757378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05200"/>
            <a:ext cx="10820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  <a:ln xmlns:a="http://schemas.openxmlformats.org/drawingml/2006/main" w="7620">
            <a:solidFill>
              <a:srgbClr val="D7CBB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3EA010-8274-4322-A85A-669D17481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09975"/>
            <a:ext cx="609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202A"/>
                </a:solidFill>
                <a:latin typeface="Avenir Next"/>
                <a:ea typeface="Avenir Next"/>
                <a:cs typeface="Avenir Next"/>
              </a:defRPr>
            </a:pPr>
            <a:r>
              <a:rPr sz="915" b="0">
                <a:solidFill>
                  <a:srgbClr val="17202A"/>
                </a:solidFill>
                <a:latin typeface="Avenir Next"/>
                <a:ea typeface="Avenir Next"/>
                <a:cs typeface="Avenir Next"/>
              </a:rPr>
              <a:t>E6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B2FC3D1-E2AC-41EF-8B24-F101AF7F7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609975"/>
            <a:ext cx="2038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202A"/>
                </a:solidFill>
                <a:latin typeface="Avenir Next"/>
                <a:ea typeface="Avenir Next"/>
                <a:cs typeface="Avenir Next"/>
              </a:defRPr>
            </a:pPr>
            <a:r>
              <a:rPr sz="915" b="0">
                <a:solidFill>
                  <a:srgbClr val="17202A"/>
                </a:solidFill>
                <a:latin typeface="Avenir Next"/>
                <a:ea typeface="Avenir Next"/>
                <a:cs typeface="Avenir Next"/>
              </a:rPr>
              <a:t>all_identity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7E2E0AE-E3E5-47CF-BADB-48DCCF5FA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09975"/>
            <a:ext cx="1657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202A"/>
                </a:solidFill>
                <a:latin typeface="Avenir Next"/>
                <a:ea typeface="Avenir Next"/>
                <a:cs typeface="Avenir Next"/>
              </a:defRPr>
            </a:pPr>
            <a:r>
              <a:rPr sz="915" b="0">
                <a:solidFill>
                  <a:srgbClr val="17202A"/>
                </a:solidFill>
                <a:latin typeface="Avenir Next"/>
                <a:ea typeface="Avenir Next"/>
                <a:cs typeface="Avenir Next"/>
              </a:rPr>
              <a:t>online_delta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B8110D9-9BD9-4D71-AF10-E58FA374F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609975"/>
            <a:ext cx="590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202A"/>
                </a:solidFill>
                <a:latin typeface="Avenir Next"/>
                <a:ea typeface="Avenir Next"/>
                <a:cs typeface="Avenir Next"/>
              </a:defRPr>
            </a:pPr>
            <a:r>
              <a:rPr sz="915" b="0">
                <a:solidFill>
                  <a:srgbClr val="17202A"/>
                </a:solidFill>
                <a:latin typeface="Avenir Next"/>
                <a:ea typeface="Avenir Next"/>
                <a:cs typeface="Avenir Next"/>
              </a:rPr>
              <a:t>does SA improve or damage a strong baseline?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138119C-FB55-4894-8F51-8327044FD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10820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CBB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846E43D-BA37-4190-AB67-0943B7EC5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90975"/>
            <a:ext cx="609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202A"/>
                </a:solidFill>
                <a:latin typeface="Avenir Next"/>
                <a:ea typeface="Avenir Next"/>
                <a:cs typeface="Avenir Next"/>
              </a:defRPr>
            </a:pPr>
            <a:r>
              <a:rPr sz="915" b="0">
                <a:solidFill>
                  <a:srgbClr val="17202A"/>
                </a:solidFill>
                <a:latin typeface="Avenir Next"/>
                <a:ea typeface="Avenir Next"/>
                <a:cs typeface="Avenir Next"/>
              </a:rPr>
              <a:t>E7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4F390A1-5D1F-47D3-ABF5-D007C48B0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90975"/>
            <a:ext cx="2038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202A"/>
                </a:solidFill>
                <a:latin typeface="Avenir Next"/>
                <a:ea typeface="Avenir Next"/>
                <a:cs typeface="Avenir Next"/>
              </a:defRPr>
            </a:pPr>
            <a:r>
              <a:rPr sz="915" b="0">
                <a:solidFill>
                  <a:srgbClr val="17202A"/>
                </a:solidFill>
                <a:latin typeface="Avenir Next"/>
                <a:ea typeface="Avenir Next"/>
                <a:cs typeface="Avenir Next"/>
              </a:rPr>
              <a:t>random layout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77C6619-72FB-45E5-AE44-CD8FC6ED8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990975"/>
            <a:ext cx="1657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202A"/>
                </a:solidFill>
                <a:latin typeface="Avenir Next"/>
                <a:ea typeface="Avenir Next"/>
                <a:cs typeface="Avenir Next"/>
              </a:defRPr>
            </a:pPr>
            <a:r>
              <a:rPr sz="915" b="0">
                <a:solidFill>
                  <a:srgbClr val="17202A"/>
                </a:solidFill>
                <a:latin typeface="Avenir Next"/>
                <a:ea typeface="Avenir Next"/>
                <a:cs typeface="Avenir Next"/>
              </a:rPr>
              <a:t>online_delta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0354384-6BA8-464C-8AFB-DA486999B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990975"/>
            <a:ext cx="590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202A"/>
                </a:solidFill>
                <a:latin typeface="Avenir Next"/>
                <a:ea typeface="Avenir Next"/>
                <a:cs typeface="Avenir Next"/>
              </a:defRPr>
            </a:pPr>
            <a:r>
              <a:rPr sz="915" b="0">
                <a:solidFill>
                  <a:srgbClr val="17202A"/>
                </a:solidFill>
                <a:latin typeface="Avenir Next"/>
                <a:ea typeface="Avenir Next"/>
                <a:cs typeface="Avenir Next"/>
              </a:rPr>
              <a:t>does SA improve already mixed layouts?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FC0E724-767E-4D96-8627-1BC395CC8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819650"/>
            <a:ext cx="9525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BB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FF44BA6-9F5A-4F3F-BAEC-75B7265BC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29200"/>
            <a:ext cx="895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2A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7202A"/>
                </a:solidFill>
                <a:latin typeface="Avenir Next"/>
                <a:ea typeface="Avenir Next"/>
                <a:cs typeface="Avenir Next"/>
              </a:rPr>
              <a:t>For Wednesday: run/interpret Iris first. Then extend the same matrix to concentric_circles and crossing_spirals.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04C3DB7-E241-4A47-9B3A-21A87CBAB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810250"/>
            <a:ext cx="5410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AF128E0-4002-4633-82F5-3822140AB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867400"/>
            <a:ext cx="5219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2F80ED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2F80ED"/>
                </a:solidFill>
                <a:latin typeface="Avenir Next"/>
                <a:ea typeface="Avenir Next"/>
                <a:cs typeface="Avenir Next"/>
              </a:rPr>
              <a:t>Final claims use retrained layouts; inherited models are reported separately.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E8D84ED-55F1-4D28-A605-670C5FB9F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B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FE08D9E-DF49-4E61-98B5-65F4A7931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7810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Activation-function layouts with online-delta simulated annealing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6A980F4-1B02-4682-B5F1-CDB285223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67085"/>
                </a:solidFill>
                <a:latin typeface="Georgia"/>
                <a:ea typeface="Georgia"/>
                <a:cs typeface="Georgia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56866684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CC57FE1-995E-4BF9-B5BA-AECDBD154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0775A2-8642-41C8-B98C-5FAAD69D1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A7E354-B48A-4D39-B271-8FCC75BCE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FD37C3-9900-4C69-BECE-664EA88DD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P R E L I M I N A R Y   I R I S   E V I D E N C 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F1F165-57BE-4F1C-BA96-33E9BB734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9906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7202A"/>
                </a:solidFill>
                <a:latin typeface="Georgia"/>
                <a:ea typeface="Georgia"/>
                <a:cs typeface="Georgia"/>
              </a:rPr>
              <a:t>Early Iris runs show improvement from weak starts, not universal superiority.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97EABD-5EF1-4826-B837-F8E611540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81200"/>
            <a:ext cx="107823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93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A127B3-3C9E-4D7A-B69C-5A92F6090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85975"/>
            <a:ext cx="16573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Start layout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9020C9-9A67-4D07-A683-4D7DD6239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085975"/>
            <a:ext cx="19431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Search mean val loss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0BF209-860D-40B4-B20A-AFF95B1B3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085975"/>
            <a:ext cx="17526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Final SA val loss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57D340-62E2-472B-8C6F-BC0851D42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085975"/>
            <a:ext cx="16573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Final SA test acc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95EBDF-FFB7-4AF9-B05D-DB078C709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085975"/>
            <a:ext cx="30099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Strong simple baseline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9563DD-8F90-42C3-9BC0-B8DCA0330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09825"/>
            <a:ext cx="107823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CBB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752BBA-6546-40DE-9023-645AAB815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16573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2A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17202A"/>
                </a:solidFill>
                <a:latin typeface="Avenir Next"/>
                <a:ea typeface="Avenir Next"/>
                <a:cs typeface="Avenir Next"/>
              </a:rPr>
              <a:t>relu*8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251EB1-8B6D-41BE-B3B0-9BB87D531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514600"/>
            <a:ext cx="19431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2A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17202A"/>
                </a:solidFill>
                <a:latin typeface="Avenir Next"/>
                <a:ea typeface="Avenir Next"/>
                <a:cs typeface="Avenir Next"/>
              </a:rPr>
              <a:t>0.5875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02F89A-4DCF-473E-A162-63B21F87A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514600"/>
            <a:ext cx="17526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2A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17202A"/>
                </a:solidFill>
                <a:latin typeface="Avenir Next"/>
                <a:ea typeface="Avenir Next"/>
                <a:cs typeface="Avenir Next"/>
              </a:rPr>
              <a:t>0.2533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0F0F21-63E9-4FDF-8A85-B4A75916F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514600"/>
            <a:ext cx="16573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2A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17202A"/>
                </a:solidFill>
                <a:latin typeface="Avenir Next"/>
                <a:ea typeface="Avenir Next"/>
                <a:cs typeface="Avenir Next"/>
              </a:rPr>
              <a:t>0.9333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101257-7BEC-4CD7-8D3E-EE5AE3E59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14600"/>
            <a:ext cx="30099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2A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17202A"/>
                </a:solidFill>
                <a:latin typeface="Avenir Next"/>
                <a:ea typeface="Avenir Next"/>
                <a:cs typeface="Avenir Next"/>
              </a:rPr>
              <a:t>all_identity: 0.2363 val loss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44E3F1-97FE-4020-BBDE-610EB6D22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38450"/>
            <a:ext cx="107823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  <a:ln xmlns:a="http://schemas.openxmlformats.org/drawingml/2006/main" w="7620">
            <a:solidFill>
              <a:srgbClr val="D7CBB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9447C5-83F6-4C73-9084-2D52C1E36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43225"/>
            <a:ext cx="16573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2A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17202A"/>
                </a:solidFill>
                <a:latin typeface="Avenir Next"/>
                <a:ea typeface="Avenir Next"/>
                <a:cs typeface="Avenir Next"/>
              </a:rPr>
              <a:t>tanh*8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48F44D-810A-4514-A98C-F5DC4DCD9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943225"/>
            <a:ext cx="19431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2A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17202A"/>
                </a:solidFill>
                <a:latin typeface="Avenir Next"/>
                <a:ea typeface="Avenir Next"/>
                <a:cs typeface="Avenir Next"/>
              </a:rPr>
              <a:t>0.5765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E22008-33F9-49FB-9D7C-9D77FF3E1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943225"/>
            <a:ext cx="17526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2A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17202A"/>
                </a:solidFill>
                <a:latin typeface="Avenir Next"/>
                <a:ea typeface="Avenir Next"/>
                <a:cs typeface="Avenir Next"/>
              </a:rPr>
              <a:t>0.2469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5EFE86-284A-43AA-B4B3-6B839D8F0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943225"/>
            <a:ext cx="16573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2A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17202A"/>
                </a:solidFill>
                <a:latin typeface="Avenir Next"/>
                <a:ea typeface="Avenir Next"/>
                <a:cs typeface="Avenir Next"/>
              </a:rPr>
              <a:t>0.9333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756C71-38E9-48E0-A25C-6C2092CDB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943225"/>
            <a:ext cx="30099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2A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17202A"/>
                </a:solidFill>
                <a:latin typeface="Avenir Next"/>
                <a:ea typeface="Avenir Next"/>
                <a:cs typeface="Avenir Next"/>
              </a:rPr>
              <a:t>all_identity: 0.2363 val loss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3E155B-0C19-40CD-89CB-64CD5C881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67075"/>
            <a:ext cx="107823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CBB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8D3158-3870-4CCB-8FDD-93492D2B4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71850"/>
            <a:ext cx="16573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2A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17202A"/>
                </a:solidFill>
                <a:latin typeface="Avenir Next"/>
                <a:ea typeface="Avenir Next"/>
                <a:cs typeface="Avenir Next"/>
              </a:rPr>
              <a:t>sigmoid*8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802A12-C361-41F6-AA92-D04979375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371850"/>
            <a:ext cx="19431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2A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17202A"/>
                </a:solidFill>
                <a:latin typeface="Avenir Next"/>
                <a:ea typeface="Avenir Next"/>
                <a:cs typeface="Avenir Next"/>
              </a:rPr>
              <a:t>0.5891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136BAC4-6A66-4286-B930-3F8F980C0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371850"/>
            <a:ext cx="17526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2A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17202A"/>
                </a:solidFill>
                <a:latin typeface="Avenir Next"/>
                <a:ea typeface="Avenir Next"/>
                <a:cs typeface="Avenir Next"/>
              </a:rPr>
              <a:t>0.2468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64F01E3-7D54-4F31-9F48-0E4BB1663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371850"/>
            <a:ext cx="16573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2A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17202A"/>
                </a:solidFill>
                <a:latin typeface="Avenir Next"/>
                <a:ea typeface="Avenir Next"/>
                <a:cs typeface="Avenir Next"/>
              </a:rPr>
              <a:t>0.9333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44E30F-9C5A-418E-BB5A-4A3BC9B66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371850"/>
            <a:ext cx="30099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2A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17202A"/>
                </a:solidFill>
                <a:latin typeface="Avenir Next"/>
                <a:ea typeface="Avenir Next"/>
                <a:cs typeface="Avenir Next"/>
              </a:rPr>
              <a:t>all_identity: 0.2363 val loss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4356D7D-77D8-42FF-B662-C13FDB96B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86200"/>
            <a:ext cx="895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EE"/>
          </a:solidFill>
          <a:ln xmlns:a="http://schemas.openxmlformats.org/drawingml/2006/main" w="9525">
            <a:solidFill>
              <a:srgbClr val="2E7D5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A999002-5D76-404A-8092-33BFC5A17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43350"/>
            <a:ext cx="876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2E7D5B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2E7D5B"/>
                </a:solidFill>
                <a:latin typeface="Avenir Next"/>
                <a:ea typeface="Avenir Next"/>
                <a:cs typeface="Avenir Next"/>
              </a:rPr>
              <a:t>Interpretation: online-delta SA improves weak start layouts and finds competitive mixed layouts.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638FA4C-69CA-4117-AA16-B8F34E1F8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591050"/>
            <a:ext cx="8953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7202A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17202A"/>
                </a:solidFill>
                <a:latin typeface="Avenir Next"/>
                <a:ea typeface="Avenir Next"/>
                <a:cs typeface="Avenir Next"/>
              </a:rPr>
              <a:t>Caveat: all_identity remains slightly stronger by validation loss in these remembered Iris runs. This is why the next deck/result pack needs the full E1-E7 matrix and mean/std plots.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F1B39FB-F68F-4638-B01B-941E2B264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810250"/>
            <a:ext cx="7696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863" b="0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Source: docs/EXPERIMENT_NOTES.md, 8 seeds, online_delta, train policy accepted, max_steps 200.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05478BD-3B15-4E9A-8148-1E1A6BA7F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B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3FD3762-2974-4756-AC84-13328559B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7810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Activation-function layouts with online-delta simulated annealing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1B2A6D5-3A48-4FB4-8A96-C7893A4F3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67085"/>
                </a:solidFill>
                <a:latin typeface="Georgia"/>
                <a:ea typeface="Georgia"/>
                <a:cs typeface="Georgia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6032657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691110A-31E2-4180-B65B-CCFF39F66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96DB54-F063-4A92-A7B4-8E259BEA9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6103FB-C58A-4A6D-8838-39A298B36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B75C72-BCF5-483E-BAA1-30256E296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D I S C U S S I O N   I D E A 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A51781-EA44-4DB9-80CA-E41435CB8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8572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2A"/>
                </a:solidFill>
                <a:latin typeface="Georgia"/>
                <a:ea typeface="Georgia"/>
                <a:cs typeface="Georgia"/>
              </a:defRPr>
            </a:pPr>
            <a:r>
              <a:rPr sz="2700" b="1">
                <a:solidFill>
                  <a:srgbClr val="17202A"/>
                </a:solidFill>
                <a:latin typeface="Georgia"/>
                <a:ea typeface="Georgia"/>
                <a:cs typeface="Georgia"/>
              </a:rPr>
              <a:t>Ablations come after the core matrix is stable.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1D32BA-4090-4D4B-A907-FD865ED50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3143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2994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D5D333-FCB2-4AA5-9A77-83DC6F42E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43150"/>
            <a:ext cx="2800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994A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2994A"/>
                </a:solidFill>
                <a:latin typeface="Avenir Next"/>
                <a:ea typeface="Avenir Next"/>
                <a:cs typeface="Avenir Next"/>
              </a:rPr>
              <a:t>E8: old vs new SA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8319DC-166D-4E0C-B714-D27A45B35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47950"/>
            <a:ext cx="28003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Compare short-retrain against online-delta with the same start layouts, seeds, step budget, and final retraining. The comparison target is final layout quality, not raw search score.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3C5581-6E35-43CD-BF1E-37A17BC89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190750"/>
            <a:ext cx="3143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5FDD9A-85A1-4B21-9CA0-1034E5B90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343150"/>
            <a:ext cx="2800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80ED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2F80ED"/>
                </a:solidFill>
                <a:latin typeface="Avenir Next"/>
                <a:ea typeface="Avenir Next"/>
                <a:cs typeface="Avenir Next"/>
              </a:rPr>
              <a:t>E9-E11: proposal policies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4B0B58-6755-40C5-866E-2E26496CE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647950"/>
            <a:ext cx="28003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Local-only, balanced, and exploratory operator sampling distributions. This tests how candidate generation affects SA without changing the acceptance rule.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F669FD-15A8-40D9-AF65-9A3A207D5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90750"/>
            <a:ext cx="3143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E7D5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536686-B511-4CB7-AF80-05900D739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43150"/>
            <a:ext cx="2800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E7D5B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2E7D5B"/>
                </a:solidFill>
                <a:latin typeface="Avenir Next"/>
                <a:ea typeface="Avenir Next"/>
                <a:cs typeface="Avenir Next"/>
              </a:rPr>
              <a:t>Report question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319BEB-F3A8-42D7-A7EA-2BBDD3CF7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647950"/>
            <a:ext cx="28003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Does the method improve weak starts reliably, and when do simple baselines remain stronger? This is more defensible than claiming universal superiority.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440BDC-5CBA-4615-9041-748494162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143500"/>
            <a:ext cx="5410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8E8"/>
          </a:solidFill>
          <a:ln xmlns:a="http://schemas.openxmlformats.org/drawingml/2006/main" w="9525">
            <a:solidFill>
              <a:srgbClr val="B94A4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EF03BB-7F0A-4FB0-BDDF-A0DCA9984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200650"/>
            <a:ext cx="5219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B94A48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B94A48"/>
                </a:solidFill>
                <a:latin typeface="Avenir Next"/>
                <a:ea typeface="Avenir Next"/>
                <a:cs typeface="Avenir Next"/>
              </a:rPr>
              <a:t>Do not expand these ablations before E1-E7 are reported cleanly.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E15263-1CA4-4F56-8C7C-8DBF03DF3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B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7843F8-39CC-4A2F-9418-AF7E9F77A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7810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Activation-function layouts with online-delta simulated annealing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DE33CA-BFE6-45DE-91BA-D771F99A0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67085"/>
                </a:solidFill>
                <a:latin typeface="Georgia"/>
                <a:ea typeface="Georgia"/>
                <a:cs typeface="Georgia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22154003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C8C2AF-7F72-43F9-8B29-5D608974B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B2F65F-BC7A-41C3-885E-32240F15F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D0C29F-FCC6-464A-BF00-E8073FCE2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068F49-FB8B-4EA7-9B7C-876FB4447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N E X T   M I L E S T O N 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7D7C12-959F-4A83-B004-77DCF82B9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9525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2A"/>
                </a:solidFill>
                <a:latin typeface="Georgia"/>
                <a:ea typeface="Georgia"/>
                <a:cs typeface="Georgia"/>
              </a:defRPr>
            </a:pPr>
            <a:r>
              <a:rPr sz="2625" b="1">
                <a:solidFill>
                  <a:srgbClr val="17202A"/>
                </a:solidFill>
                <a:latin typeface="Georgia"/>
                <a:ea typeface="Georgia"/>
                <a:cs typeface="Georgia"/>
              </a:rPr>
              <a:t>The next deliverable is a reproducible result pack, not another GUI feature.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7E2ED5-B1CB-46B0-9F88-831029197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90750"/>
            <a:ext cx="4381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B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92BA00-353A-423F-9781-91127F51E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90750"/>
            <a:ext cx="4000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F0F6B7-887E-48A5-9E4C-759236C2B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574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887DFE-E4AA-43B1-BDC3-096789545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352675"/>
            <a:ext cx="3714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7202A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>
                <a:solidFill>
                  <a:srgbClr val="17202A"/>
                </a:solidFill>
                <a:latin typeface="Avenir Next"/>
                <a:ea typeface="Avenir Next"/>
                <a:cs typeface="Avenir Next"/>
              </a:rPr>
              <a:t>Run E1 and E2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94CFD0-66A4-4E17-93FD-DC5A0D860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609850"/>
            <a:ext cx="37147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810" b="0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Single-AF and random-layout baselines on all benchmarks.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29D002-9DCF-4BDA-9C5A-A0E6DCC3B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95650"/>
            <a:ext cx="4381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BB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5D37FB-EB82-4E44-85CA-A3BC2465A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95650"/>
            <a:ext cx="4000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99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2AEBA5-385D-4504-9ACE-05875F53F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623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FAC2D2-BD13-4EB7-A9AB-BE3A249E8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457575"/>
            <a:ext cx="3714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7202A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>
                <a:solidFill>
                  <a:srgbClr val="17202A"/>
                </a:solidFill>
                <a:latin typeface="Avenir Next"/>
                <a:ea typeface="Avenir Next"/>
                <a:cs typeface="Avenir Next"/>
              </a:rPr>
              <a:t>Run E3-E7 on Iris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DE9002-E273-450A-9921-A4590AD60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714750"/>
            <a:ext cx="37147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810" b="0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Focus Wednesday interpretation on the fastest meaningful benchmark.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CEA8DC-45FC-45C6-99C2-95819FEF9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00550"/>
            <a:ext cx="4381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BB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0D1643-B7C1-4702-AE3C-62CE6EF9A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00550"/>
            <a:ext cx="4000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6C97EA-6C47-417A-909C-039287E8F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672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420029-7801-43A4-B9A3-71BA27AFC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562475"/>
            <a:ext cx="3714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7202A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>
                <a:solidFill>
                  <a:srgbClr val="17202A"/>
                </a:solidFill>
                <a:latin typeface="Avenir Next"/>
                <a:ea typeface="Avenir Next"/>
                <a:cs typeface="Avenir Next"/>
              </a:rPr>
              <a:t>Extend to all benchmarks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48F1ED-ED9E-4475-91C9-F8A3AA3B2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819650"/>
            <a:ext cx="37147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810" b="0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Repeat the same matrix before comparing hard-case behaviour.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99B5ED-6E92-4EB0-BBC0-F3E9CA712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190750"/>
            <a:ext cx="4381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BB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49C8DC-C621-4237-8CD5-F44730A80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190750"/>
            <a:ext cx="4000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A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6CBE73-5A9F-430E-811B-766384000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574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0758AD-5641-496B-861A-EAB37D40D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352675"/>
            <a:ext cx="3714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7202A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>
                <a:solidFill>
                  <a:srgbClr val="17202A"/>
                </a:solidFill>
                <a:latin typeface="Avenir Next"/>
                <a:ea typeface="Avenir Next"/>
                <a:cs typeface="Avenir Next"/>
              </a:rPr>
              <a:t>Build report plots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D288A1-FDA0-4537-9026-562427D80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609850"/>
            <a:ext cx="37147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810" b="0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Mean/std validation loss, test accuracy, SA improvement, and baseline ranking.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A67B10-32E7-4AF2-B846-E4C8D109D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295650"/>
            <a:ext cx="4381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BB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505222A-96AD-4AE3-9738-AE5FF3F71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295650"/>
            <a:ext cx="4000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515387A-A03C-4807-BC92-D5320103C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5623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6C5F07-1B09-435E-A63D-0282DF554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457575"/>
            <a:ext cx="3714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7202A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>
                <a:solidFill>
                  <a:srgbClr val="17202A"/>
                </a:solidFill>
                <a:latin typeface="Avenir Next"/>
                <a:ea typeface="Avenir Next"/>
                <a:cs typeface="Avenir Next"/>
              </a:rPr>
              <a:t>Discuss ablations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94803A0-8502-44D6-9143-D523FC1BD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714750"/>
            <a:ext cx="37147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810" b="0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Old-vs-new SA and proposal policies after core evidence is stable.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E7E7C54-18D3-4194-8922-0C6D5DB62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629150"/>
            <a:ext cx="4095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Georgia"/>
                <a:ea typeface="Georgia"/>
                <a:cs typeface="Georgia"/>
              </a:defRPr>
            </a:pPr>
            <a:r>
              <a:rPr sz="1125" b="1">
                <a:solidFill>
                  <a:srgbClr val="17202A"/>
                </a:solidFill>
                <a:latin typeface="Georgia"/>
                <a:ea typeface="Georgia"/>
                <a:cs typeface="Georgia"/>
              </a:rPr>
              <a:t>Clean claim boundary: SA can be useful if it improves start layouts under identical final evaluation, even when a simple baseline remains competitive.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8E5AA8B-9066-4413-88E4-50D64340D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5867400"/>
            <a:ext cx="7734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EE"/>
          </a:solidFill>
          <a:ln xmlns:a="http://schemas.openxmlformats.org/drawingml/2006/main" w="9525">
            <a:solidFill>
              <a:srgbClr val="2E7D5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109F89C-A82D-4FA4-82A4-D8578606C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924550"/>
            <a:ext cx="7543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2E7D5B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2E7D5B"/>
                </a:solidFill>
                <a:latin typeface="Avenir Next"/>
                <a:ea typeface="Avenir Next"/>
                <a:cs typeface="Avenir Next"/>
              </a:rPr>
              <a:t>Wednesday target: method accepted, experiment matrix locked, first Iris evidence explained.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0DF5029-CEAF-4A73-A19D-2BCC585CB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B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7F14409-6BC1-4C78-8A66-2AFFEBF16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7810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Activation-function layouts with online-delta simulated annealing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C446613-6668-434C-8321-F679F3204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67085"/>
                </a:solidFill>
                <a:latin typeface="Georgia"/>
                <a:ea typeface="Georgia"/>
                <a:cs typeface="Georgia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7439203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2026-05-18T17:54:46.3550000Z</dcterms:created>
  <dcterms:modified xsi:type="dcterms:W3CDTF">2026-05-18T17:54:46.3550000Z</dcterms:modified>
</coreProperties>
</file>