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479dfb5b0a4b48" /><Relationship Type="http://schemas.openxmlformats.org/officeDocument/2006/relationships/extended-properties" Target="/docProps/app.xml" Id="R1fb2d284317c4adf" /><Relationship Type="http://schemas.openxmlformats.org/officeDocument/2006/relationships/officeDocument" Target="/ppt/presentation.xml" Id="Rbda515757f5c4b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5fd39009aa4b73"/>
  </p:sldMasterIdLst>
  <p:notesMasterIdLst>
    <p:notesMasterId xmlns:r="http://schemas.openxmlformats.org/officeDocument/2006/relationships" r:id="R01db71869d734084"/>
  </p:notesMasterIdLst>
  <p:sldIdLst>
    <p:sldId xmlns:r="http://schemas.openxmlformats.org/officeDocument/2006/relationships" id="256" r:id="R5189f52094ab4b6b"/>
    <p:sldId xmlns:r="http://schemas.openxmlformats.org/officeDocument/2006/relationships" id="257" r:id="R18ede1d566a34f0e"/>
    <p:sldId xmlns:r="http://schemas.openxmlformats.org/officeDocument/2006/relationships" id="258" r:id="R06542e7782fe4087"/>
    <p:sldId xmlns:r="http://schemas.openxmlformats.org/officeDocument/2006/relationships" id="259" r:id="R94e5bb1693d74cdb"/>
    <p:sldId xmlns:r="http://schemas.openxmlformats.org/officeDocument/2006/relationships" id="260" r:id="R52572615912f4d75"/>
    <p:sldId xmlns:r="http://schemas.openxmlformats.org/officeDocument/2006/relationships" id="261" r:id="Ree35674f8d044547"/>
    <p:sldId xmlns:r="http://schemas.openxmlformats.org/officeDocument/2006/relationships" id="262" r:id="R36d57dd59d434825"/>
    <p:sldId xmlns:r="http://schemas.openxmlformats.org/officeDocument/2006/relationships" id="263" r:id="Rafd3c5422fce4629"/>
    <p:sldId xmlns:r="http://schemas.openxmlformats.org/officeDocument/2006/relationships" id="264" r:id="Rfc20b83ea15f4c97"/>
    <p:sldId xmlns:r="http://schemas.openxmlformats.org/officeDocument/2006/relationships" id="265" r:id="R85418d313dbb42a1"/>
    <p:sldId xmlns:r="http://schemas.openxmlformats.org/officeDocument/2006/relationships" id="266" r:id="R593d684d75c6490c"/>
    <p:sldId xmlns:r="http://schemas.openxmlformats.org/officeDocument/2006/relationships" id="267" r:id="R8adfb1f027544581"/>
    <p:sldId xmlns:r="http://schemas.openxmlformats.org/officeDocument/2006/relationships" id="268" r:id="R8b010be695954f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fd39009aa4b73" /><Relationship Type="http://schemas.openxmlformats.org/officeDocument/2006/relationships/theme" Target="/ppt/theme/theme1.xml" Id="R14830c945e6f47ea" /><Relationship Type="http://schemas.openxmlformats.org/officeDocument/2006/relationships/notesMaster" Target="/ppt/notesMasters/notesMaster1.xml" Id="R01db71869d734084" /><Relationship Type="http://schemas.openxmlformats.org/officeDocument/2006/relationships/presProps" Target="/ppt/presProps.xml" Id="Rd698a6e234f0446b" /><Relationship Type="http://schemas.openxmlformats.org/officeDocument/2006/relationships/viewProps" Target="/ppt/viewProps.xml" Id="Rf24ffd273a8147bd" /><Relationship Type="http://schemas.openxmlformats.org/officeDocument/2006/relationships/tableStyles" Target="/ppt/tableStyles.xml" Id="R2cfcb1f953264fe3" /><Relationship Type="http://schemas.openxmlformats.org/officeDocument/2006/relationships/slide" Target="/ppt/slides/slide1.xml" Id="R5189f52094ab4b6b" /><Relationship Type="http://schemas.openxmlformats.org/officeDocument/2006/relationships/slide" Target="/ppt/slides/slide2.xml" Id="R18ede1d566a34f0e" /><Relationship Type="http://schemas.openxmlformats.org/officeDocument/2006/relationships/slide" Target="/ppt/slides/slide3.xml" Id="R06542e7782fe4087" /><Relationship Type="http://schemas.openxmlformats.org/officeDocument/2006/relationships/slide" Target="/ppt/slides/slide4.xml" Id="R94e5bb1693d74cdb" /><Relationship Type="http://schemas.openxmlformats.org/officeDocument/2006/relationships/slide" Target="/ppt/slides/slide5.xml" Id="R52572615912f4d75" /><Relationship Type="http://schemas.openxmlformats.org/officeDocument/2006/relationships/slide" Target="/ppt/slides/slide6.xml" Id="Ree35674f8d044547" /><Relationship Type="http://schemas.openxmlformats.org/officeDocument/2006/relationships/slide" Target="/ppt/slides/slide7.xml" Id="R36d57dd59d434825" /><Relationship Type="http://schemas.openxmlformats.org/officeDocument/2006/relationships/slide" Target="/ppt/slides/slide8.xml" Id="Rafd3c5422fce4629" /><Relationship Type="http://schemas.openxmlformats.org/officeDocument/2006/relationships/slide" Target="/ppt/slides/slide9.xml" Id="Rfc20b83ea15f4c97" /><Relationship Type="http://schemas.openxmlformats.org/officeDocument/2006/relationships/slide" Target="/ppt/slides/slide10.xml" Id="R85418d313dbb42a1" /><Relationship Type="http://schemas.openxmlformats.org/officeDocument/2006/relationships/slide" Target="/ppt/slides/slide11.xml" Id="R593d684d75c6490c" /><Relationship Type="http://schemas.openxmlformats.org/officeDocument/2006/relationships/slide" Target="/ppt/slides/slide12.xml" Id="R8adfb1f027544581" /><Relationship Type="http://schemas.openxmlformats.org/officeDocument/2006/relationships/slide" Target="/ppt/slides/slide13.xml" Id="R8b010be695954f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4088e1adeb344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7e9a668646479f" /><Relationship Type="http://schemas.openxmlformats.org/officeDocument/2006/relationships/notesMaster" Target="/ppt/notesMasters/notesMaster1.xml" Id="R86c57f625d0b4c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3d85f1d9c940f1" /><Relationship Type="http://schemas.openxmlformats.org/officeDocument/2006/relationships/notesMaster" Target="/ppt/notesMasters/notesMaster1.xml" Id="R3a0ce5bc8b6848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f95b90849446e6" /><Relationship Type="http://schemas.openxmlformats.org/officeDocument/2006/relationships/notesMaster" Target="/ppt/notesMasters/notesMaster1.xml" Id="R7e64e766631745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c6b0c0f8e9415d" /><Relationship Type="http://schemas.openxmlformats.org/officeDocument/2006/relationships/notesMaster" Target="/ppt/notesMasters/notesMaster1.xml" Id="Rd5a8493c531949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37261ca76b4262" /><Relationship Type="http://schemas.openxmlformats.org/officeDocument/2006/relationships/notesMaster" Target="/ppt/notesMasters/notesMaster1.xml" Id="Rd1a9220ffbcc49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7f9cad1f28459d" /><Relationship Type="http://schemas.openxmlformats.org/officeDocument/2006/relationships/notesMaster" Target="/ppt/notesMasters/notesMaster1.xml" Id="R77364d0cbc3b42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bed6705a294fb2" /><Relationship Type="http://schemas.openxmlformats.org/officeDocument/2006/relationships/notesMaster" Target="/ppt/notesMasters/notesMaster1.xml" Id="R234cef63651642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ae4067f26a45f8" /><Relationship Type="http://schemas.openxmlformats.org/officeDocument/2006/relationships/notesMaster" Target="/ppt/notesMasters/notesMaster1.xml" Id="R588ca3a7133a40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9e29622cbd4940" /><Relationship Type="http://schemas.openxmlformats.org/officeDocument/2006/relationships/notesMaster" Target="/ppt/notesMasters/notesMaster1.xml" Id="Rfe2d64e9360341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de025ac9924832" /><Relationship Type="http://schemas.openxmlformats.org/officeDocument/2006/relationships/notesMaster" Target="/ppt/notesMasters/notesMaster1.xml" Id="R392223e7c63540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df358327d04fdf" /><Relationship Type="http://schemas.openxmlformats.org/officeDocument/2006/relationships/notesMaster" Target="/ppt/notesMasters/notesMaster1.xml" Id="R4b94cf28a1544d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d8a74dd06a4da2" /><Relationship Type="http://schemas.openxmlformats.org/officeDocument/2006/relationships/notesMaster" Target="/ppt/notesMasters/notesMaster1.xml" Id="R25748438c39748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6fec13d1ba4e19" /><Relationship Type="http://schemas.openxmlformats.org/officeDocument/2006/relationships/notesMaster" Target="/ppt/notesMasters/notesMaster1.xml" Id="R34a8d1369c6f45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99837d82041c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f58bca17d404973" /><Relationship Type="http://schemas.openxmlformats.org/officeDocument/2006/relationships/slideLayout" Target="/ppt/slideLayouts/slideLayout2.xml" Id="R73c0df774ce44f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c0df774ce44f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033cb1ebc44ae5" /><Relationship Type="http://schemas.openxmlformats.org/officeDocument/2006/relationships/notesSlide" Target="/ppt/notesSlides/notesSlide1.xml" Id="R29d00202d21248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a6d5854b9a4149" /><Relationship Type="http://schemas.openxmlformats.org/officeDocument/2006/relationships/notesSlide" Target="/ppt/notesSlides/notesSlide2.xml" Id="R7029f1dc51a84a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f57063ab8c44bf" /><Relationship Type="http://schemas.openxmlformats.org/officeDocument/2006/relationships/notesSlide" Target="/ppt/notesSlides/notesSlide3.xml" Id="R509e7edc6a014a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b3f2be598d4c51" /><Relationship Type="http://schemas.openxmlformats.org/officeDocument/2006/relationships/notesSlide" Target="/ppt/notesSlides/notesSlide4.xml" Id="R8732e40fdf4c43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cfba338e5a46ff" /><Relationship Type="http://schemas.openxmlformats.org/officeDocument/2006/relationships/notesSlide" Target="/ppt/notesSlides/notesSlide5.xml" Id="Rc5b60ba452d74d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dd6662b8a14e4c" /><Relationship Type="http://schemas.openxmlformats.org/officeDocument/2006/relationships/notesSlide" Target="/ppt/notesSlides/notesSlide6.xml" Id="Rd4ce78c3a75147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4ae821db844676" /><Relationship Type="http://schemas.openxmlformats.org/officeDocument/2006/relationships/notesSlide" Target="/ppt/notesSlides/notesSlide7.xml" Id="Ra63a12b9525e45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543ec6fff44fca" /><Relationship Type="http://schemas.openxmlformats.org/officeDocument/2006/relationships/notesSlide" Target="/ppt/notesSlides/notesSlide8.xml" Id="Rce9bcab559a846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19d3beca7042ca" /><Relationship Type="http://schemas.openxmlformats.org/officeDocument/2006/relationships/notesSlide" Target="/ppt/notesSlides/notesSlide9.xml" Id="Rf046ff1aa4d349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e662b725a9470e" /><Relationship Type="http://schemas.openxmlformats.org/officeDocument/2006/relationships/notesSlide" Target="/ppt/notesSlides/notesSlide10.xml" Id="R74d63242c63844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0b15217e864ae5" /><Relationship Type="http://schemas.openxmlformats.org/officeDocument/2006/relationships/image" Target="/ppt/media/image.png" Id="R7133df5b773c4beb" /><Relationship Type="http://schemas.openxmlformats.org/officeDocument/2006/relationships/notesSlide" Target="/ppt/notesSlides/notesSlide11.xml" Id="R1e3e9cca3b1744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43e01d925d41be" /><Relationship Type="http://schemas.openxmlformats.org/officeDocument/2006/relationships/image" Target="/ppt/media/image2.png" Id="R94efce68bc284f2a" /><Relationship Type="http://schemas.openxmlformats.org/officeDocument/2006/relationships/notesSlide" Target="/ppt/notesSlides/notesSlide12.xml" Id="R5da1dac88d0e42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8c602e18e740ad" /><Relationship Type="http://schemas.openxmlformats.org/officeDocument/2006/relationships/notesSlide" Target="/ppt/notesSlides/notesSlide13.xml" Id="R4d8807c661f349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F8A51A-C4B2-44AC-87B8-CAAC8C27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E3277-7ADA-4D61-83AB-C05DD8E2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482A0-AFD5-4261-AF6C-9ECC4899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F846C-E45A-4D64-8ACE-E57DBB31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4B2EA-2879-4C93-92A9-87B8EF2C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NATURAL COMPUTATION · SIMULATED ANNEALING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5094D-B5B7-461A-9CFA-995FCF4C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Optimierung von Aktivierungs-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funktionen als Layout-Suche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2495E-C416-40FF-9DDB-8E69AA43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600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Basic ANN · feste Benchmarks · Simulated Annealing über diskrete AF-Verteilungen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899FB-0E77-432F-9D37-1AECB105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9579">
            <a:off x="7172325" y="3119438"/>
            <a:ext cx="210103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9D070-946C-4ED4-B97C-F82890F4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73212">
            <a:off x="7172325" y="3119438"/>
            <a:ext cx="218236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258FD-CE1B-4D6A-914D-A722125C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18814">
            <a:off x="7172325" y="3119438"/>
            <a:ext cx="235142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5343F-B752-4905-9768-93AF95DC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6554">
            <a:off x="7172325" y="3576638"/>
            <a:ext cx="21175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ECA41-EEA8-464B-80A3-E41F3E85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9579">
            <a:off x="7172325" y="3576638"/>
            <a:ext cx="210103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41926-798C-444B-BC29-4E1AD2E0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73212">
            <a:off x="7172325" y="3576638"/>
            <a:ext cx="218236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FEE77-8BF5-4E4A-91A2-1F2020DA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98986">
            <a:off x="7172325" y="4033838"/>
            <a:ext cx="22297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2F00E-FC4B-4DFE-91A5-7BEAFD75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6554">
            <a:off x="7172325" y="4033838"/>
            <a:ext cx="21175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738C0-6609-4914-ACBE-A7A0B178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9579">
            <a:off x="7172325" y="4033838"/>
            <a:ext cx="210103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5721F-42A2-4DB5-A4AF-DEE8B3D7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11497">
            <a:off x="7172325" y="4491038"/>
            <a:ext cx="242437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E9565-F33C-4D88-AF9F-29B1A7FC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98986">
            <a:off x="7172325" y="4491038"/>
            <a:ext cx="22297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23FB9-907C-45B4-A251-821F91B9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6554">
            <a:off x="7172325" y="4491038"/>
            <a:ext cx="21175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9275B-0EFB-4E4B-970D-29B1772E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6554">
            <a:off x="9267825" y="3271838"/>
            <a:ext cx="21175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7156F-31E4-47C7-9188-D418C741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98986">
            <a:off x="9267825" y="3271838"/>
            <a:ext cx="22297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257E2-A493-409A-B15C-520FDDE5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9579">
            <a:off x="9267825" y="3729038"/>
            <a:ext cx="210103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49A62-080B-46BE-A132-3724A0DA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6554">
            <a:off x="9267825" y="3729038"/>
            <a:ext cx="211755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94D7F-53AC-472A-BF0B-760AB3AE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73212">
            <a:off x="9267825" y="4186238"/>
            <a:ext cx="218236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F4E0A-6B2E-4474-A075-8D3D4E7E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9579">
            <a:off x="9267825" y="4186238"/>
            <a:ext cx="210103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422BF0-3221-4DBE-B899-B37653C3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0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3BDFF-7AE3-403C-B033-99D0BCF0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575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A59A6-60BD-40A4-A61C-2588021F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14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B69834-370F-4002-9FFD-D7008F42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71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5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C165D3-7251-4AC8-AF71-C37A3F18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2665C4-060F-4512-BF10-F492592B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9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59B06F-23FA-483E-9F86-2C0AE15F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67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EBB54A-3137-4AB1-B1C2-CAFE6F4A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575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F713B8-050E-43CF-AE14-74C91512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914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44958-6F2B-40FE-9184-55FF8786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7652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D0F644-204D-4F91-ACDC-F3AF2532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7652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Hidden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A5D7C9-E32F-441D-BBDB-9AF0991A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7652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7C9656-69F8-4FA4-9E3D-11182888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4953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6473E5-F1DE-4D20-B6C0-3DC81367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= activation layout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6548D4-2067-42A2-90B7-7214D116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3E0E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3E0E4"/>
                </a:solidFill>
                <a:latin typeface="Aptos"/>
                <a:ea typeface="Aptos"/>
                <a:cs typeface="Aptos"/>
              </a:rPr>
              <a:t>ein Zustand ist keine Gewichtsmatrix, sondern eine AF-Belegung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878B19-C528-4B55-88B9-803D6A62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4000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2BEDAE-9525-44D5-A566-C8195A7C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 = val loss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328A18-A7BD-408F-8C11-697B7BB6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76800"/>
            <a:ext cx="3581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3E0E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3E0E4"/>
                </a:solidFill>
                <a:latin typeface="Aptos"/>
                <a:ea typeface="Aptos"/>
                <a:cs typeface="Aptos"/>
              </a:rPr>
              <a:t>Bewertung nach kurzem Kandidatentraining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8C1D33-F4C4-4114-84CC-AEADFC47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B5F299-FCA5-4452-9A20-AA5E5D01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014085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95FFBE-9133-47D3-89B5-00664605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A7823-5054-483E-9D69-11C74B0D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BB140-D4BA-4E68-9C8E-50828F07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98037-42DE-4BEA-BF19-8C77F854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ANSATZ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44E09-5C87-4BE0-A78A-D1EA2466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Die Problemformulierung trennt Gewichtstraining und Layoutsuche.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2FC14-E1CE-47B8-A439-00298F3C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6541B-A568-45A4-9AAB-C6E42B8E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Gradient Descent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6CD45-E759-4A75-B3E7-97921EEC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optimiert Gewichte und Biases innerhalb eines festgelegten Netzes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287FB-2E3D-404F-A615-C68C1826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32893-8110-4634-AF4E-FF8FA5B7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Simulated Annealing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74971-B57F-4B3A-8B84-F1C9D47F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optimiert die diskrete Verteilung der Aktivierungsfunktionen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1FD20-2330-48FC-A6AA-39F4C380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688A4-A7E8-4343-B17D-D60A088F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Final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ADBA1-865F-4705-8EA0-BC0AD00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trainiert ausgewählte Layouts unter identischen Bedingungen neu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76D20-02AD-4FA4-90F6-F83FB47A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472BC-6AFC-4907-8174-CD32084C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339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layout L = [f₁, f₂, …, fₙ]  mit  fᵢ ∈ AF-Set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014A9-4A1C-4F3B-A41C-135C0FA5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95900"/>
            <a:ext cx="815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3E0E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3E0E4"/>
                </a:solidFill>
                <a:latin typeface="Aptos"/>
                <a:ea typeface="Aptos"/>
                <a:cs typeface="Aptos"/>
              </a:rPr>
              <a:t>SA bewegt sich im Raum dieser diskreten Layouts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D1460-663A-4F63-8482-FD50B29E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F530F-7302-4872-931C-FA0516D0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94358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063841-3A4D-44F6-AE0A-A18AE49D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C82B8-1BDA-408A-AC00-B30A7AF6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6668A-3867-4560-9AFF-D21CDEC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01A3B-30FF-4E86-96EE-B148A065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BENCHMARK-FRAME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954AC-7E6D-4B94-89D8-3EEBBEA6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Der experimentelle Rahmen ist fixiert.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76272-2B19-444D-8F88-70784661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C79B9-FDC7-4EF5-9D13-03D50EA3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Topology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5EFB7-E553-4528-8EAC-2B7E211B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1A124-AE07-4134-A341-1AED5548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C082E-06D3-4298-B2C7-893D3414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0744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F69B6-88EF-4DE7-9254-C179A2BA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concentric_circles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B5EE5-C31E-493C-BE2B-912BEE32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2-8-1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7FA3E-320D-4B52-8A1F-7E807AA8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146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100 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2DD4F-C9B9-4350-A7E9-275574E3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easy: sichtbarer Lernprozess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1983E-FFBC-4818-A459-02ED4C55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744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E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E40A6-75AE-4A90-B630-E5788CEB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iris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E8276-A42E-487D-8FBB-AB2C256E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194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4-8-3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F2267-08C8-43A0-B7D4-4322CE9C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150 ep.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A28AC-8C97-49DD-9C67-222A9648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medium: Mehrklassenproblem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82D20-4030-410E-BBA2-93D49686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0744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42D99-87C4-4E27-B381-AF5410F2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crossing_spirals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DEBEF-DCAE-4F2B-9D0D-98D80CFF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243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6-16-16-1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281DF-2BD1-44F2-894E-580F4B2D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24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250 ep.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D4BA9-9CF4-484D-A02B-60CA0746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243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hard: aktuelle Grenze des Setups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A8A69-F1A9-4272-B56A-7BA138C8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8572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DF099-779E-4091-9A60-AC014737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768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AF-Set = { ReLU, GELU, Sigmoid, tanh, Swish, Identity 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AF54E-BC65-49CB-9EB7-5AB5C7DB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38800"/>
            <a:ext cx="815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3E0E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3E0E4"/>
                </a:solidFill>
                <a:latin typeface="Aptos"/>
                <a:ea typeface="Aptos"/>
                <a:cs typeface="Aptos"/>
              </a:rPr>
              <a:t>gleicher Aktivierungsraum für alle offiziellen Benchmarks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86DBF-0830-4731-AC52-B6E43801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575101-78F9-4096-81E9-D980BD1F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13329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3F19E7-8A92-4D59-9F34-272F1B26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E0B02-D947-4839-8789-6D2B6613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E1791-FE20-4DE8-B583-9190D518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2F22C-D83F-4F7C-9127-8ED516C2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KODIERUNG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74ED7-03F4-432F-9072-C413682B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Ein Layout kodiert jede Hidden-Neuron-Aktivierung explizit.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EF580-01F1-4AAB-B580-502D863F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homogeneous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E8DD0-42CB-4FE1-ADA3-6597BF50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845F9-8F73-41EE-B46A-28C14624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8FC70-5F14-41F0-BF16-CD9C89EE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DA7FE-A174-4045-AC3B-9D30F68B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78C3B-D15C-429A-9189-646DB08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7FCDA-C69A-4333-BE93-E757D5A6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257E5-4BD1-4142-A966-77F04A59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3892D-161C-48FD-B3DC-F6FA656B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59858-260F-48D4-ACCE-71D73155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7C08F-D818-479B-8557-6A7CF6D3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relu · relu · relu · relu · relu · relu · relu · relu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25127-179D-4ED6-8E32-42672B23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A4562-6C6E-408A-88E9-23394FF6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3761B-04D6-4BB2-A3D1-5952D076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40246-7F0E-4279-A157-066D99F2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0B7B15-387E-4D07-89C9-E0294AB9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D360A-CC15-4A7B-9F81-AFE20184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F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955F9-3EAC-46C8-85AD-EC7D091F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72963-B6D9-43A8-81AB-321F2E9A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C3416-81C9-4A13-9A1D-22E71773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E0B6F0-5BC8-4083-8C8F-23C0CAAB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7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B943F5-08F4-457B-B6FB-0651204A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051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relu · tanh · relu · sigmoid · swish · relu · gelu ·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9E0FC9-86ED-42AC-BC9B-27F23045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layer fill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E5F8A5-A734-4C77-AF75-CD48763F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630B1D-904B-4A60-ACE0-C8FB6EDE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97D62-4BFC-4507-85D4-5360C10F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FEF173-67B1-4C3D-B87C-7B85B74A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85116B-D8E6-4A79-B0C6-C4195AB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DFE017-BCA6-405C-84E0-432430F7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4DFB68-02EE-4131-B486-54660E92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0184C6-B436-4E6C-8384-E9D07CB5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9DD6C4-4902-40DB-8D88-22237CE0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B69E83-E9F5-4A15-BBE1-36D2A740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swish · swish · swish · swish · swish · swish · swish · swish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864677-265F-468C-9865-7B2106DB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86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9F021E-1E88-43A7-8660-E79F84D2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00550"/>
            <a:ext cx="910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Homogene Layouts sind Baselines: eine AF für alle Neuronen.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7A3BDC-85EB-45A8-9187-C05D20EC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A82408-C6D0-424E-BFC7-5503E889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876800"/>
            <a:ext cx="910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Gemischte Layouts erlauben lokale Spezialisierung innerhalb einer Schicht.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4F8CB8-8CCC-4311-A7F2-EF43E8F0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38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1D2233-C760-4105-9394-1639FCF8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353050"/>
            <a:ext cx="910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Das Layout bleibt während eines Trainingslaufs fix; nur die Gewichte ändern sich.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C6FE47-CB37-4793-9995-1B6E4256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FABD55-6DD8-4E04-B2B3-48E92280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26342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08B3E-8754-4E62-BC51-102759CB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D0809-A7FB-4AC2-8B95-8771D6AE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9B737-0983-4689-86F5-2BD31D4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8B035-08C5-41BF-AB96-AB7D855A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NEIGHBORHOOD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D681A-C9D0-452D-9E86-D8ED452E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`set_neuron` erzeugt eine kleine lokale Mutation.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FF450-2DFB-4DD5-AE4C-9CE0571F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83139-8980-4B3D-B010-9283626F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96AB5-7EC9-44DF-9E33-131D2DE2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9AC8B-519C-4662-A325-565AE28E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C1975-9E8B-42D6-841D-280B1297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0C896-F258-4582-BF29-A0A2F02E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4C8CB-7DC7-452E-8451-D439F740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B3E4F-26A5-4F83-8F83-88E5FA66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7C707-91BB-43B7-B049-342FF904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2B3CA-6106-4319-B309-0FE21CB4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82B39-E65D-4CE6-8749-BF1EA544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relu · relu · relu · relu · relu · relu · relu · relu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9C0D2-4BE0-4C3C-9ABB-6641AC1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3FCAA-D4C3-401A-B112-527B30A2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8378A-95C4-4FCE-AFA6-BA968743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568F6-5372-42D6-9435-459BEEDF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51753-39BC-4054-A3BB-4D6D5C61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A2757-0DBE-410F-9910-3A6976B8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1CED8-6CB3-4E4E-9357-1BDAA947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F7FAF6-1FD0-4757-A9B1-36DCD61C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5DADB3-30D4-4F6A-A907-A573B731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F61B7-4C50-45E8-9D7D-4DB0B4A0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284088-8834-4220-9E32-CBABE04A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relu · relu · relu · tanh · relu · relu · relu · relu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C5154F-05CF-41A7-A8A9-3312802D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9527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8939B2-A5B9-4297-8B18-FD48EC7C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set:L1:3:tanh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57AEA7-20A2-4E8C-A6F8-770467DE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57992F-8099-4271-9175-52DA5AEE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61BD83-56DE-46A6-9EAB-8AC5626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5780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Ein einzelnes Neuron bekommt eine andere Aktivierungsfunktion. Das ist fein granular und gut für lokale Suche.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AF75D7-0AE6-4BC8-B923-F4525B74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C221A8-62D7-43D4-B44C-A1618FEA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33183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5F30C-F4DF-46E6-A199-1FBBBC46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A3595-63D6-4B22-9CE0-C689960C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FB5F3-0E2E-48DA-AD2D-9FBDEB62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86E98-2C29-498F-B37A-DF61DCC2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NEIGHBORHOOD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F5C22-C0C1-4AFB-AF79-9A2D44ED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`swap_neurons` verändert Positionen, aber nicht die AF-Menge.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9671E-D3B4-4B4E-96EF-F7DF637B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933A1-22D6-4708-93A4-09AB88BC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36728-9920-4307-AB22-6E469FEE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CDF8A-DD90-4528-AAB8-7CF50B84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2A536-7106-49D4-B210-7BF15A32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03884-BBE5-4909-90AD-6B6605FC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F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A3FD4-F349-4F79-AF5C-FAADAA27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C1587-CDD7-419B-8A14-6CD0FC3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EA59C-8B08-404B-B4D0-8F916F47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7186E-F0DB-4C8E-B04A-B0A76832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7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C8E32-F999-4A75-857F-BEAE3BA4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relu · tanh · relu · sigmoid · swish · relu · gelu · identity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35C51-7EBF-407A-9B2F-0E8FD380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00D03-C391-4CE3-BF66-FE1A8CDF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9CCA4-4DE3-43F4-9779-0DD4EA01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94DE9-A2E5-49EF-8991-93A5DA19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DD54D-10B9-432C-B8D0-00D471AA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62FF62-70E7-4CD4-9F36-E147A150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F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312255-5947-42DC-9AE9-8B53B270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675E4-7B6E-4F45-90EC-BD6AEC75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B8F530-46EA-48A6-9CE3-81A77002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0A1502-2133-42A1-B585-B38433E9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7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D1C884-FF51-43E4-B49C-1680E2DF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relu · swish · relu · sigmoid · tanh · relu · gelu ·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E1C9B8-B991-4018-9606-8AB1925C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9527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2430FE-EC98-4513-9FB9-4BF7103C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swap:L1:1:4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4E73EF-3220-495A-AFF6-F017BC3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B52B56-C7AF-4504-BE2D-1A71BD92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BC250B-F127-4A6F-B17F-111D052E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5780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Die Verteilung bleibt gleich, aber die Platzierung im Netz ändert sich. Das testet Struktur ohne neue AF-Anzahl.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71A933-4FBB-4103-816D-52615D07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4B6DD3-6585-4AE3-BCB1-EDC576E6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83524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5BD845-B682-4FFF-81BB-DC297B2D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FAF54-BAFF-4D8B-9EE8-DA431190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27D23-75BB-47D2-A94B-1BFD4729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58898-21A2-4162-9428-CA67CE34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NEIGHBORHOOD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BC020-0B3D-4FD1-B24B-7135233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`fill_layer` ist ein größerer struktureller Sprung.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ED668-D904-4FD5-A5DF-C07DDCF4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18164-3918-4223-97CF-C809BB8A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42B78-4930-43ED-836F-004DECC4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17BE6-E486-46F1-9430-39E3736D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A6175-957F-4A1F-BEA5-E69C9CB9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FC893-8F7F-4260-97B7-B4F82BA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F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075A8-ADDF-4B91-BBA9-77BCC8CA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95967-7469-4193-898A-E3AD210C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E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FA968-B6B0-4333-8CD4-48674856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228F5-EEA2-4B26-B8A8-25634648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7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05D5E-77E3-418C-BF54-98B9F8AE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relu · tanh · relu · sigmoid · swish · relu · gelu · identity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893E2-A9C0-4AD8-AC13-95A252EB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33C8A-E859-46A5-BB7D-C3AC6E4F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C980B-BF54-4BA2-BED3-4E20E724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FD271-ACCE-4FA9-864E-4CBB8EA8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7E1B9-45DF-4194-9667-DA09D32C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6B862-01DB-4046-9355-68C2DBEA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3E463F-8B89-405E-8541-C52DB1ED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88258-7B5D-4CA1-B2FC-CD5C93A8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DB296-DC70-4475-8B2A-77139397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0FC5B-AF37-4CCF-B2DA-44EFF5DC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A91AB2-0B60-4601-81C9-720ECB09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swish · swish · swish · swish · swish · swish · swish · swish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0C4A2-F12F-419E-AEC3-3B16E88A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9527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87592B-EDC0-46C8-8533-DD98529E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fill:L1:swish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59ECBB-15B9-48E4-8034-7743C0C8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006432-0959-4A1E-AB35-639D0718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5F356D-9ECD-4808-B522-D4BB6977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5780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Eine komplette Hidden-Schicht wird neu belegt. Das ist gröber, kann aber Plateaus schneller verlassen.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18467A-247D-41E8-AA04-612FF171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65A30B-2C11-4527-BC04-523000C0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027376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82365F-592A-4B2E-A893-2D9ED1AA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E5772-2173-4AB5-A4DF-A69349FD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EDCCA-3266-43B8-B960-3F43EE80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BCC62-2632-4FC1-A320-9D3C9C45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SCORING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7F92E-46F8-424D-9A01-D6234533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Jeder Kandidat wird über Validation Loss bewertet.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862EF-AA8D-4BF1-A9D3-9D1944D8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1885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E6BDD-89B6-40A3-8CF6-C684F73F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30945-3B1A-44F3-BB71-96525903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B65AE-D7B1-4F85-9477-926A8F16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Layout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E191D-F6D3-4FC0-9825-1218EA86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AF-Belegung wählen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EA6E9-1142-4C65-8266-A6EFDB32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1885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5E72A-7EC4-40EB-A6C4-E2B783D0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47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4603A-5BAB-4423-A276-F9E03831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146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34F8B-8783-4F2E-8553-15CEC3B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242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0B92E-6596-425F-8490-2C55330A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29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Modell mit Seed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2FDE5-4B21-4F66-8739-231B7388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885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7D6"/>
          </a:solidFill>
          <a:ln xmlns:a="http://schemas.openxmlformats.org/drawingml/2006/main" w="9525">
            <a:solidFill>
              <a:srgbClr val="E7B8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2175D-AE1D-4F39-9715-61DB8F2D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47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2F091-E7B0-4BB7-A733-2DD6774A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146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77939-4995-4CCB-AB4B-657C0C19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242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6F2C4-29A0-41A6-B0E2-A386ADD0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29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candidate epochs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939B6-8CF1-43A3-AA82-85D6861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76500"/>
            <a:ext cx="1885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754D7-561F-42D2-A126-1282EBA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47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EF5CB-26EB-4A6C-8CBB-710382EA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146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98888-E91A-4862-B3F5-38A17A08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242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25A86-CA7D-4FDF-A494-FDFCD3EE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29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Loss / Accuracy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41105-C755-43DE-BC11-F1FA63E6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76500"/>
            <a:ext cx="1885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BBCB7-0FD2-44C9-9D33-058E204A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47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78781-D855-417F-BE16-6FECFCD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146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115FA-DC10-4E99-8C39-6292446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242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667D8-A6DF-4966-ACD8-2AD0B34C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29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kleiner ist besser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0F54C7-75C0-4DC1-9FF5-AEB36987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31718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120DF8-985F-4FD3-A1F1-A601B64F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31718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7B9A63-E2E3-4A9C-B932-427F15FE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31718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4FEB0A-109D-4800-B56A-AB6A41A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31718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7962E6-129E-4AFB-A68B-BD3F4DCF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76800"/>
            <a:ext cx="723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63A6D4-7647-445C-83EA-EBE0627E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score(L) = validation_loss(train_short(model(L)))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D11FAE-2B52-4F1D-8161-ECE227E0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10200"/>
            <a:ext cx="681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3E0E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3E0E4"/>
                </a:solidFill>
                <a:latin typeface="Aptos"/>
                <a:ea typeface="Aptos"/>
                <a:cs typeface="Aptos"/>
              </a:rPr>
              <a:t>Testdaten werden erst nach der Suche für die finale Bewertung genutzt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AE3E42-848C-4DFD-8152-E1BC720A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9A084A-1D58-41DF-81E9-31FDBFD0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96084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4D1FFD-E2F4-46AA-A231-C983184A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1D61B-230F-4628-A8A7-0BE43B54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BB1F8-C33C-4002-AC56-373CA414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A4CBD-09CB-423B-838F-A738EE34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ACCEPTANCE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EAEC2-7A0C-4F7E-9A0A-8E493E01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Die Annealing-Entscheidung balanciert Verbesserung und Exploration.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3A828-7BFC-4639-98AB-ED105E57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BBD4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8C940-EA20-4935-82C4-6E7E0B59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Besserer Kandidat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36BF0-A1E6-4B34-9D19-41228459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wenn Δ ≤ 0: akzeptieren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AD953-E600-4F19-8720-B2E10FA8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1E2"/>
          </a:solidFill>
          <a:ln xmlns:a="http://schemas.openxmlformats.org/drawingml/2006/main" w="9525">
            <a:solidFill>
              <a:srgbClr val="E6C4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898B2-CFFF-439F-B2C8-E3280FAB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95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Schlechterer Kandidat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3BA25-0B2F-429E-AC9E-88987AD7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3845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wenn Δ &gt; 0: eventuell akzeptieren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6564A-F80F-482B-8439-93B65A8A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469B1-E4A9-4D8C-96F2-88D97021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95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Best Layout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B8B15-A346-44DD-A854-F81002B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bestes Layout bleibt separat gespeichert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1C836-60FA-4997-A4A4-98CCC7A1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4095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6BFBE-4D45-4672-98B7-036FA361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006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 = exp(-Δ / 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1DC97-D779-442E-BF30-B26009A8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625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3E0E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3E0E4"/>
                </a:solidFill>
                <a:latin typeface="Aptos"/>
                <a:ea typeface="Aptos"/>
                <a:cs typeface="Aptos"/>
              </a:rPr>
              <a:t>hohe Temperatur erlaubt Exploration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6C760-A416-4FB7-9F24-D7F0AD3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095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48DD0-3A62-40A4-97B1-0F981123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006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Tₖ₊₁ = α · Tₖ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E9ADC-04C1-41D5-B8C6-85A598DA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625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3E0E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3E0E4"/>
                </a:solidFill>
                <a:latin typeface="Aptos"/>
                <a:ea typeface="Aptos"/>
                <a:cs typeface="Aptos"/>
              </a:rPr>
              <a:t>Temperatur sinkt über die Suche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A5943-942B-4FCF-926A-DCB2DF6D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1545F-9B0A-4E37-AB6B-AA64DC03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10436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C78856-7C5E-4C18-B7F7-460C540E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11F28-1057-420A-98CD-C1B9E8AD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4F403-B4CA-4E85-88FE-47EEF65F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7432A-2B26-49F0-B251-C4D012D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FINAL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1C6D3-450A-48B1-8DF6-EC603263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Nach SA werden Layouts fair gegeneinander neu trainiert.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F88EA-4A42-4643-8562-91F37F7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2B095-AD8C-49E6-8214-B54333E9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62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3627A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7B159-0F14-412E-BA04-568921B7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Startlayout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68E6C-0B98-4855-8920-3E4A0273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9E7D6"/>
          </a:solidFill>
          <a:ln xmlns:a="http://schemas.openxmlformats.org/drawingml/2006/main" w="9525">
            <a:solidFill>
              <a:srgbClr val="E7B8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C7917-3C53-46D8-A557-B7DBC765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best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A2676-7BC4-4977-B86E-6452C9A6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SA-Best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8A013-38C6-4E73-B199-847626E5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B7698-06A1-4D79-A0D7-168627ED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289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62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3627A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60A19-6BF5-42D7-97DB-F18F8BDE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Endlayout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F467C-0668-4745-861A-66142B65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0030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0639E-3AA9-47AC-9B3E-DAB6C600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62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3627A"/>
                </a:solidFill>
                <a:latin typeface="Aptos"/>
                <a:ea typeface="Aptos"/>
                <a:cs typeface="Aptos"/>
              </a:rPr>
              <a:t>random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6906E-5888-4AC3-A101-FCA6BE71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Random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11EE1-9284-4341-B2C8-FF2C7A38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4FE83-F599-4EA5-81A6-86FFFA12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289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62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3627A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33E28-E6E5-43C0-84EC-80BCF4BF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527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Single-AF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0B47A-F948-4837-92CA-0E98A9BB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76750"/>
            <a:ext cx="8420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17D14-9C63-4BF6-BEB9-FC8404F2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48200"/>
            <a:ext cx="803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same seeds · same epochs · same learning rate · same 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828FE-9C09-4801-82FA-4E36B2F5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3E0E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3E0E4"/>
                </a:solidFill>
                <a:latin typeface="Aptos"/>
                <a:ea typeface="Aptos"/>
                <a:cs typeface="Aptos"/>
              </a:rPr>
              <a:t>nur so ist Startlayout vs. SA-Best vs. Baseline fachlich vergleichbar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52831-0A96-4BBF-8DF8-4928DDF7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0BD901-E613-4ED1-B721-CD654DB8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55291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7C85A6-7889-4EB1-B773-2561B17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91F60-C908-4D5A-8052-F8E7296B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19EFE-8654-4437-9554-BBF51CCD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14CA9-703B-4149-A76E-B532B46E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8EF43-4F9E-4F2C-A7DF-4083AFC7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Aktuelle Ergebnisse: einfacher Fall stabil, harter Fall offen.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3df5b773c4beb"/>
          <a:stretch xmlns:a="http://schemas.openxmlformats.org/drawingml/2006/main"/>
        </p:blipFill>
        <p:spPr>
          <a:xfrm xmlns:a="http://schemas.openxmlformats.org/drawingml/2006/main">
            <a:off x="838200" y="2180167"/>
            <a:ext cx="6381750" cy="354541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0089E-C301-492D-962F-6BEE8677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526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DBD27-A70B-446E-9746-61967D4B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concentric_circles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9769D-EB0F-4E30-9438-E398677C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SA-Best und Grid-Baseline liegen nach finalem Training gleichauf.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E847A-B208-49D2-89DD-61DDB69C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90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A26DA-77B1-473C-9980-43F476C4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iris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1E01F-08AB-4703-8935-58F73657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SA findet brauchbare Layouts, Grid bleibt aktuell stärker.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17B95-02A8-4DBC-B15F-884BB1CA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291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2D8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27454-7C70-405F-ADB0-F5740D34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1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crossing_spirals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671CF-873B-4CBE-A380-532A4D79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244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Ergebnisse nahe Zufall; zuerst Trainingstuning nötig.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4B1C7-44DB-4F4D-956B-9B657A3D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74D96-2B94-4E75-AE7F-6782BEDB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77713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865E5A-AD79-4800-B52A-848F0A9E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D2024-2453-4B1D-AFB7-F6DEAE03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DBD8C-6F9A-4174-9FA4-B7FBE10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FA52A-69B8-4737-BBDA-2D3C070A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OPERATORVERGLEICH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724E6-0400-46D8-A0E4-585DA65A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Neighborhood-Operatoren beeinflussen die Suchdynamik sichtbar.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fce68bc284f2a"/>
          <a:stretch xmlns:a="http://schemas.openxmlformats.org/drawingml/2006/main"/>
        </p:blipFill>
        <p:spPr>
          <a:xfrm xmlns:a="http://schemas.openxmlformats.org/drawingml/2006/main">
            <a:off x="742950" y="2910568"/>
            <a:ext cx="7429500" cy="212271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2E120-F5AF-4E9E-B38A-C01E29DB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FD637-1C41-4A4C-B8D1-F938EDD1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479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`fill_layer` macht größere Sprünge.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158EC-EAFD-44AE-BB30-DA8394EE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38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54A05-ECD7-4E39-B9EF-0FAA9F28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5275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`set_neuron` ist lokal und fein granular.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28306-3C9A-451C-AEA5-739A419B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43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A10E6-E292-4BD0-970C-F9FD6150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`swap_neurons` erhält AF-Zählung, verändert Position.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69C6C-32C3-45BD-B180-5D0F8321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B0EBB-08F8-4CCC-ADF7-F0CD7A0B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6245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Mehr Operatoren sind nicht automatisch besser.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D8FAA-6F4C-48E3-9BAE-F2BD370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FB48A-0725-4251-8A56-113C0683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64111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CC7E1-A43C-4E3E-A8AA-CCA382FE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9525">
            <a:solidFill>
              <a:srgbClr val="F7F0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163AE-CFFE-4F24-ACDE-63F8CE75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FA9DB-1DFF-40D7-B52E-75F64AC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50BCF-2845-4A70-908A-AADF2DD2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FAZIT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646C4-8E76-4EB7-8597-1A6C3F6A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Vortragsfazit: Methode steht, Optimierung ist der nächste Schritt.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16E44-AED9-46DE-88C6-6F0B50CE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BBD4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1B508-629A-4BE2-9EF3-374C64A4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Belastbarer Zwischenstand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673F0-3776-47EA-8859-ED81F150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4381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CSV-Benchmarks, AF-Set, Layout-Grid, SA-Suche, Neighborhood-Vergleich und Report-Artefakte sind reproduzierbar umgesetzt.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FE1A8-4F02-422C-AEC0-3A50CD3F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E2"/>
          </a:solidFill>
          <a:ln xmlns:a="http://schemas.openxmlformats.org/drawingml/2006/main" w="9525">
            <a:solidFill>
              <a:srgbClr val="E6C4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BA8AE-FEC5-4967-A332-1BFBDF57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431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Nächste Experimentrunde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CDB44-C495-47C7-A496-D57806E6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381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SA-Parameter systematisch tunen: candidate epochs, max steps, temperature schedule und Neighborhood-Sets.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B2208-97EE-404E-BB31-95AD0C7C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19700"/>
            <a:ext cx="7581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B24"/>
          </a:solidFill>
          <a:ln xmlns:a="http://schemas.openxmlformats.org/drawingml/2006/main" w="9525">
            <a:solidFill>
              <a:srgbClr val="111B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436EA-89E7-447C-93F9-636C44DD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91150"/>
            <a:ext cx="720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Kernaussage: SA sucht Layouts; Gradient Descent trainiert Gewichte.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292E9-BF8E-458B-AAF0-50743EB2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53100"/>
            <a:ext cx="716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3E0E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3E0E4"/>
                </a:solidFill>
                <a:latin typeface="Aptos"/>
                <a:ea typeface="Aptos"/>
                <a:cs typeface="Aptos"/>
              </a:rPr>
              <a:t>Diese Trennung ist die zentrale fachliche Idee des Ansatzes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143CE-8B5D-4280-A341-D9708DE7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AF distribution optimization · Simulated Annealing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AFC96-DBF0-40E4-B626-F54240CE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D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7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5364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2026-05-05T12:00:04.6850000Z</dcterms:created>
  <dcterms:modified xsi:type="dcterms:W3CDTF">2026-05-05T12:00:04.6850000Z</dcterms:modified>
</coreProperties>
</file>